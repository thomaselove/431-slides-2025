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61" r:id="rId2"/>
    <p:sldId id="262" r:id="rId3"/>
    <p:sldId id="263" r:id="rId4"/>
    <p:sldId id="264" r:id="rId5"/>
    <p:sldId id="265" r:id="rId6"/>
    <p:sldId id="266" r:id="rId7"/>
    <p:sldId id="267" r:id="rId8"/>
    <p:sldId id="268" r:id="rId9"/>
    <p:sldId id="269" r:id="rId10"/>
    <p:sldId id="270" r:id="rId11"/>
    <p:sldId id="258" r:id="rId12"/>
    <p:sldId id="271" r:id="rId13"/>
    <p:sldId id="257" r:id="rId14"/>
    <p:sldId id="272" r:id="rId15"/>
    <p:sldId id="273" r:id="rId16"/>
    <p:sldId id="275" r:id="rId17"/>
    <p:sldId id="276" r:id="rId18"/>
    <p:sldId id="277" r:id="rId19"/>
    <p:sldId id="278" r:id="rId20"/>
    <p:sldId id="279" r:id="rId21"/>
    <p:sldId id="280" r:id="rId22"/>
    <p:sldId id="274" r:id="rId2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980" autoAdjust="0"/>
    <p:restoredTop sz="94660"/>
  </p:normalViewPr>
  <p:slideViewPr>
    <p:cSldViewPr snapToGrid="0">
      <p:cViewPr varScale="1">
        <p:scale>
          <a:sx n="116" d="100"/>
          <a:sy n="116" d="100"/>
        </p:scale>
        <p:origin x="276" y="32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B52321-013D-4509-A3E1-1C231334CF4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75CB78E-50F9-4F01-8747-8913969B8E8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2AEC4D0-E467-4058-B23B-FC9170833D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0C7E14-068B-48A0-A8EA-E291AD26FBBF}" type="datetimeFigureOut">
              <a:rPr lang="en-US" smtClean="0"/>
              <a:t>2025-09-03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BC12F10-F1B9-4593-9704-3855CF1D61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80EDE82-1878-46B6-A918-B9CC7B1B42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F8DD45-DA3D-4274-BF06-BBCAA4E0CF9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626891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C22C53-456F-4105-9D74-76ADD74A63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ECBC0CF-DCAD-4E34-B4E1-3F4DAAA2F26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64C1B71-FE24-4A90-9291-8895A5B6D7A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0C7E14-068B-48A0-A8EA-E291AD26FBBF}" type="datetimeFigureOut">
              <a:rPr lang="en-US" smtClean="0"/>
              <a:t>2025-09-03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CFC1C47-24FD-47B1-9A59-27203CA514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65B80C1-0B07-4987-9840-3AA2A26C04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F8DD45-DA3D-4274-BF06-BBCAA4E0CF9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423270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5B13FF-AF5A-4969-A4B7-7EE656214F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96BDC0A-BF6F-4BFC-A2EE-D2B0CE7999E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0FAC685-6C42-4C44-8BC4-878B6E414B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0C7E14-068B-48A0-A8EA-E291AD26FBBF}" type="datetimeFigureOut">
              <a:rPr lang="en-US" smtClean="0"/>
              <a:t>2025-09-03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956147D-FB44-490C-9220-5433639D40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19C9093-AF2E-4360-ACD8-A0D956344F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F8DD45-DA3D-4274-BF06-BBCAA4E0CF9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7465412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807925-A3DD-4EDA-9515-7C20BA0DB6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F3367AC-2862-4918-A51E-EBDFF0E3415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C7502A4-A5E3-4B16-8514-D046A999AD4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5CD7B6D-BF64-4D64-9103-08D9F363AC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0C7E14-068B-48A0-A8EA-E291AD26FBBF}" type="datetimeFigureOut">
              <a:rPr lang="en-US" smtClean="0"/>
              <a:t>2025-09-03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948CB1C-8383-498B-88AA-4391E6B113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486DA1D-BAA0-469F-A282-7B4951CFB3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F8DD45-DA3D-4274-BF06-BBCAA4E0CF9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6401228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8CAB2B-81AF-49F4-940B-D48C1329DB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5B5399E-D516-44B2-AE5A-9D3D12387FB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CB801F8-DF64-4F7E-A32A-DBDBB144C09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CED3382-1290-47AF-9040-697F6822557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3101117-F82E-4D85-AFE3-63019096D87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04A9C64-3D7C-436C-BA1F-69BA584AFA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0C7E14-068B-48A0-A8EA-E291AD26FBBF}" type="datetimeFigureOut">
              <a:rPr lang="en-US" smtClean="0"/>
              <a:t>2025-09-03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2F6A873-96DD-468C-8D20-DA1D6C4DDE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53CFAAB-8907-4A12-A2C0-D392D89BDD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F8DD45-DA3D-4274-BF06-BBCAA4E0CF9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7304433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84CC50-6BD9-48BF-816C-E4785CEDBE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BFCA311-85BE-4659-A812-431B58AE5F9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0C7E14-068B-48A0-A8EA-E291AD26FBBF}" type="datetimeFigureOut">
              <a:rPr lang="en-US" smtClean="0"/>
              <a:t>2025-09-03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DE66254-9378-4EFF-9487-814088C206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70696A6-D502-4505-9FB6-ACF9E8DED9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F8DD45-DA3D-4274-BF06-BBCAA4E0CF9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4991114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69315173-1279-4986-85D0-F29A98DA5F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0C7E14-068B-48A0-A8EA-E291AD26FBBF}" type="datetimeFigureOut">
              <a:rPr lang="en-US" smtClean="0"/>
              <a:t>2025-09-03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742115E-3D43-4C18-B996-DEF8D13EB3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A1851FF-C8F4-4F99-BFC7-EF61AE8A03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F8DD45-DA3D-4274-BF06-BBCAA4E0CF9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0785438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F0F02C-46B7-482E-A53D-AD47F4E4EE1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6D7BC4B-5064-4678-B75C-91BBC912A98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120D72A-2694-4955-8F80-7A09788A148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ECD72DF-3571-4817-8586-78212E1A6EC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0C7E14-068B-48A0-A8EA-E291AD26FBBF}" type="datetimeFigureOut">
              <a:rPr lang="en-US" smtClean="0"/>
              <a:t>2025-09-03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9398971-DE9A-4239-874E-B5AB2F1E7B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692CA70-1D7C-424E-9051-1173A8E411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F8DD45-DA3D-4274-BF06-BBCAA4E0CF9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0105380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C168D4-1758-4BD1-AB03-DAC4598E58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2085B81A-2754-449B-803D-786AEDD8876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D5BE7E7-FA57-4E6B-BB73-32163E8505C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DA965B1-22DA-462D-B696-A1AD1A915D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0C7E14-068B-48A0-A8EA-E291AD26FBBF}" type="datetimeFigureOut">
              <a:rPr lang="en-US" smtClean="0"/>
              <a:t>2025-09-03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9B7FAB6-FE49-4E30-8C47-58A51BB526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739F395-6FCD-4BD1-A193-CD99DE1AA3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F8DD45-DA3D-4274-BF06-BBCAA4E0CF9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8278552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3139F7-A45C-4CA1-9195-51B5965DC2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F959C49-05B4-4C90-B0F4-601C617DDBA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8094AF5-ACB2-4E45-8908-A7709C14C7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0C7E14-068B-48A0-A8EA-E291AD26FBBF}" type="datetimeFigureOut">
              <a:rPr lang="en-US" smtClean="0"/>
              <a:t>2025-09-03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18B1A9C-7B6D-486D-9C17-B2AF2D5B65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7B2CFBA-8B06-48B2-92E7-CD9D6EA8A0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F8DD45-DA3D-4274-BF06-BBCAA4E0CF9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0220042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299CBE3D-F50F-4583-9AE5-933CA22BB1A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CB357BF-8E26-4F46-8DD1-7E48C482BA2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3C74103-FB43-4A36-A3BF-3508D759CF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0C7E14-068B-48A0-A8EA-E291AD26FBBF}" type="datetimeFigureOut">
              <a:rPr lang="en-US" smtClean="0"/>
              <a:t>2025-09-03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C3F9C07-87BB-4462-8FC9-F1A6A49787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302136E-675E-4A51-84C9-279538892C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F8DD45-DA3D-4274-BF06-BBCAA4E0CF9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7636122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DF413E86-D259-4BB7-B2A1-3A88320165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2622213-8A9E-47B5-AAD8-6C8F190200A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0A85D13-F665-4204-AF2E-1E6A3219156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F0C7E14-068B-48A0-A8EA-E291AD26FBBF}" type="datetimeFigureOut">
              <a:rPr lang="en-US" smtClean="0"/>
              <a:t>2025-09-03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8267DBD-FB5C-4525-96E7-EF091B884C3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A58F8BB-BE84-4057-8F52-CE73AB0B149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3F8DD45-DA3D-4274-BF06-BBCAA4E0CF9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6153466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jpeg"/><Relationship Id="rId3" Type="http://schemas.openxmlformats.org/officeDocument/2006/relationships/image" Target="../media/image2.jpeg"/><Relationship Id="rId7" Type="http://schemas.openxmlformats.org/officeDocument/2006/relationships/image" Target="../media/image6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jpeg"/><Relationship Id="rId11" Type="http://schemas.openxmlformats.org/officeDocument/2006/relationships/image" Target="../media/image10.jpeg"/><Relationship Id="rId5" Type="http://schemas.openxmlformats.org/officeDocument/2006/relationships/image" Target="../media/image4.jpeg"/><Relationship Id="rId10" Type="http://schemas.openxmlformats.org/officeDocument/2006/relationships/image" Target="../media/image8.jpeg"/><Relationship Id="rId4" Type="http://schemas.openxmlformats.org/officeDocument/2006/relationships/image" Target="../media/image3.jpeg"/><Relationship Id="rId9" Type="http://schemas.openxmlformats.org/officeDocument/2006/relationships/image" Target="../media/image9.jpeg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jpeg"/><Relationship Id="rId3" Type="http://schemas.openxmlformats.org/officeDocument/2006/relationships/image" Target="../media/image2.jpeg"/><Relationship Id="rId7" Type="http://schemas.openxmlformats.org/officeDocument/2006/relationships/image" Target="../media/image6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jpeg"/><Relationship Id="rId11" Type="http://schemas.openxmlformats.org/officeDocument/2006/relationships/image" Target="../media/image10.jpeg"/><Relationship Id="rId5" Type="http://schemas.openxmlformats.org/officeDocument/2006/relationships/image" Target="../media/image4.jpeg"/><Relationship Id="rId10" Type="http://schemas.openxmlformats.org/officeDocument/2006/relationships/image" Target="../media/image8.jpeg"/><Relationship Id="rId4" Type="http://schemas.openxmlformats.org/officeDocument/2006/relationships/image" Target="../media/image3.jpeg"/><Relationship Id="rId9" Type="http://schemas.openxmlformats.org/officeDocument/2006/relationships/image" Target="../media/image9.jpeg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jpeg"/><Relationship Id="rId3" Type="http://schemas.openxmlformats.org/officeDocument/2006/relationships/image" Target="../media/image2.jpeg"/><Relationship Id="rId7" Type="http://schemas.openxmlformats.org/officeDocument/2006/relationships/image" Target="../media/image6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jpeg"/><Relationship Id="rId11" Type="http://schemas.openxmlformats.org/officeDocument/2006/relationships/image" Target="../media/image10.jpeg"/><Relationship Id="rId5" Type="http://schemas.openxmlformats.org/officeDocument/2006/relationships/image" Target="../media/image4.jpeg"/><Relationship Id="rId10" Type="http://schemas.openxmlformats.org/officeDocument/2006/relationships/image" Target="../media/image8.jpeg"/><Relationship Id="rId4" Type="http://schemas.openxmlformats.org/officeDocument/2006/relationships/image" Target="../media/image3.jpeg"/><Relationship Id="rId9" Type="http://schemas.openxmlformats.org/officeDocument/2006/relationships/image" Target="../media/image9.jpe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jpeg"/><Relationship Id="rId5" Type="http://schemas.openxmlformats.org/officeDocument/2006/relationships/image" Target="../media/image4.jpeg"/><Relationship Id="rId4" Type="http://schemas.openxmlformats.org/officeDocument/2006/relationships/image" Target="../media/image3.jpe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0.jpeg"/><Relationship Id="rId5" Type="http://schemas.openxmlformats.org/officeDocument/2006/relationships/image" Target="../media/image8.jpeg"/><Relationship Id="rId4" Type="http://schemas.openxmlformats.org/officeDocument/2006/relationships/image" Target="../media/image9.jpe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jpeg"/><Relationship Id="rId5" Type="http://schemas.openxmlformats.org/officeDocument/2006/relationships/image" Target="../media/image4.jpeg"/><Relationship Id="rId4" Type="http://schemas.openxmlformats.org/officeDocument/2006/relationships/image" Target="../media/image3.jpe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0.jpeg"/><Relationship Id="rId5" Type="http://schemas.openxmlformats.org/officeDocument/2006/relationships/image" Target="../media/image8.jpeg"/><Relationship Id="rId4" Type="http://schemas.openxmlformats.org/officeDocument/2006/relationships/image" Target="../media/image9.jpe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jpeg"/><Relationship Id="rId5" Type="http://schemas.openxmlformats.org/officeDocument/2006/relationships/image" Target="../media/image4.jpeg"/><Relationship Id="rId4" Type="http://schemas.openxmlformats.org/officeDocument/2006/relationships/image" Target="../media/image3.jpe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0.jpeg"/><Relationship Id="rId5" Type="http://schemas.openxmlformats.org/officeDocument/2006/relationships/image" Target="../media/image8.jpeg"/><Relationship Id="rId4" Type="http://schemas.openxmlformats.org/officeDocument/2006/relationships/image" Target="../media/image9.jpe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jpeg"/><Relationship Id="rId5" Type="http://schemas.openxmlformats.org/officeDocument/2006/relationships/image" Target="../media/image4.jpeg"/><Relationship Id="rId4" Type="http://schemas.openxmlformats.org/officeDocument/2006/relationships/image" Target="../media/image3.jpe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0.jpeg"/><Relationship Id="rId5" Type="http://schemas.openxmlformats.org/officeDocument/2006/relationships/image" Target="../media/image8.jpeg"/><Relationship Id="rId4" Type="http://schemas.openxmlformats.org/officeDocument/2006/relationships/image" Target="../media/image9.jpeg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 descr="http://www.ctvnews.ca/polopoly_fs/1.1797177!/httpImage/image.jpg_gen/derivatives/landscape_960/image.jpg">
            <a:extLst>
              <a:ext uri="{FF2B5EF4-FFF2-40B4-BE49-F238E27FC236}">
                <a16:creationId xmlns:a16="http://schemas.microsoft.com/office/drawing/2014/main" id="{B44B2C4D-5D34-4AE7-987D-742F9C7BE0A3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3829" r="28671"/>
          <a:stretch/>
        </p:blipFill>
        <p:spPr bwMode="auto">
          <a:xfrm>
            <a:off x="1065018" y="914400"/>
            <a:ext cx="3048000" cy="4572000"/>
          </a:xfrm>
          <a:prstGeom prst="rect">
            <a:avLst/>
          </a:prstGeom>
          <a:noFill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25768337-B0D8-4BAC-A656-DD887F5852B3}"/>
              </a:ext>
            </a:extLst>
          </p:cNvPr>
          <p:cNvSpPr txBox="1"/>
          <p:nvPr/>
        </p:nvSpPr>
        <p:spPr>
          <a:xfrm>
            <a:off x="4425236" y="1301937"/>
            <a:ext cx="4485459" cy="33547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600" dirty="0">
                <a:solidFill>
                  <a:srgbClr val="0000FF"/>
                </a:solidFill>
                <a:latin typeface="Constantia" panose="02030602050306030303" pitchFamily="18" charset="0"/>
              </a:rPr>
              <a:t>Card 1</a:t>
            </a:r>
          </a:p>
          <a:p>
            <a:endParaRPr lang="en-US" sz="2800" dirty="0">
              <a:latin typeface="Constantia" panose="02030602050306030303" pitchFamily="18" charset="0"/>
            </a:endParaRPr>
          </a:p>
          <a:p>
            <a:r>
              <a:rPr lang="en-US" sz="2800" dirty="0">
                <a:latin typeface="Constantia" panose="02030602050306030303" pitchFamily="18" charset="0"/>
              </a:rPr>
              <a:t>Eric Chong</a:t>
            </a:r>
          </a:p>
          <a:p>
            <a:r>
              <a:rPr lang="en-US" sz="2800" dirty="0">
                <a:latin typeface="Constantia" panose="02030602050306030303" pitchFamily="18" charset="0"/>
              </a:rPr>
              <a:t>Master Chef Canada winner</a:t>
            </a:r>
          </a:p>
          <a:p>
            <a:r>
              <a:rPr lang="en-US" sz="2800" dirty="0">
                <a:latin typeface="Constantia" panose="02030602050306030303" pitchFamily="18" charset="0"/>
              </a:rPr>
              <a:t>Photo date: April 2014</a:t>
            </a:r>
          </a:p>
          <a:p>
            <a:endParaRPr lang="en-US" sz="2800" dirty="0">
              <a:latin typeface="Constantia" panose="02030602050306030303" pitchFamily="18" charset="0"/>
            </a:endParaRPr>
          </a:p>
          <a:p>
            <a:r>
              <a:rPr lang="en-US" sz="3600" dirty="0">
                <a:latin typeface="Constantia" panose="02030602050306030303" pitchFamily="18" charset="0"/>
              </a:rPr>
              <a:t>Age </a:t>
            </a:r>
            <a:r>
              <a:rPr lang="en-US" sz="3600" dirty="0">
                <a:solidFill>
                  <a:srgbClr val="FF0000"/>
                </a:solidFill>
                <a:latin typeface="Constantia" panose="02030602050306030303" pitchFamily="18" charset="0"/>
              </a:rPr>
              <a:t>21</a:t>
            </a:r>
          </a:p>
        </p:txBody>
      </p:sp>
    </p:spTree>
    <p:extLst>
      <p:ext uri="{BB962C8B-B14F-4D97-AF65-F5344CB8AC3E}">
        <p14:creationId xmlns:p14="http://schemas.microsoft.com/office/powerpoint/2010/main" val="250412809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25768337-B0D8-4BAC-A656-DD887F5852B3}"/>
              </a:ext>
            </a:extLst>
          </p:cNvPr>
          <p:cNvSpPr txBox="1"/>
          <p:nvPr/>
        </p:nvSpPr>
        <p:spPr>
          <a:xfrm>
            <a:off x="4425236" y="1301937"/>
            <a:ext cx="4304576" cy="33547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600" dirty="0">
                <a:solidFill>
                  <a:srgbClr val="0000FF"/>
                </a:solidFill>
                <a:latin typeface="Constantia" panose="02030602050306030303" pitchFamily="18" charset="0"/>
              </a:rPr>
              <a:t>Card 2</a:t>
            </a:r>
          </a:p>
          <a:p>
            <a:endParaRPr lang="en-US" sz="2800" dirty="0">
              <a:latin typeface="Constantia" panose="02030602050306030303" pitchFamily="18" charset="0"/>
            </a:endParaRPr>
          </a:p>
          <a:p>
            <a:r>
              <a:rPr lang="en-US" sz="2800" dirty="0">
                <a:latin typeface="Constantia" panose="02030602050306030303" pitchFamily="18" charset="0"/>
              </a:rPr>
              <a:t>Katherine Archuleta</a:t>
            </a:r>
          </a:p>
          <a:p>
            <a:r>
              <a:rPr lang="en-US" sz="2800" dirty="0">
                <a:latin typeface="Constantia" panose="02030602050306030303" pitchFamily="18" charset="0"/>
              </a:rPr>
              <a:t>Former U.S. OPM Director</a:t>
            </a:r>
          </a:p>
          <a:p>
            <a:r>
              <a:rPr lang="en-US" sz="2800" dirty="0">
                <a:latin typeface="Constantia" panose="02030602050306030303" pitchFamily="18" charset="0"/>
              </a:rPr>
              <a:t>Photo date: 2013</a:t>
            </a:r>
          </a:p>
          <a:p>
            <a:endParaRPr lang="en-US" sz="2800" dirty="0">
              <a:latin typeface="Constantia" panose="02030602050306030303" pitchFamily="18" charset="0"/>
            </a:endParaRPr>
          </a:p>
          <a:p>
            <a:r>
              <a:rPr lang="en-US" sz="3600" dirty="0">
                <a:latin typeface="Constantia" panose="02030602050306030303" pitchFamily="18" charset="0"/>
              </a:rPr>
              <a:t>Age </a:t>
            </a:r>
            <a:r>
              <a:rPr lang="en-US" sz="3600" dirty="0">
                <a:solidFill>
                  <a:srgbClr val="FF0000"/>
                </a:solidFill>
                <a:latin typeface="Constantia" panose="02030602050306030303" pitchFamily="18" charset="0"/>
              </a:rPr>
              <a:t>64</a:t>
            </a:r>
          </a:p>
        </p:txBody>
      </p:sp>
      <p:pic>
        <p:nvPicPr>
          <p:cNvPr id="4" name="Picture 2" descr="http://www.politicalappointeeproject.org/sites/default/files/Katherine_Archuleta_0.jpg">
            <a:extLst>
              <a:ext uri="{FF2B5EF4-FFF2-40B4-BE49-F238E27FC236}">
                <a16:creationId xmlns:a16="http://schemas.microsoft.com/office/drawing/2014/main" id="{562EAD22-5CE1-468C-8A58-C91ADABD2B5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1067" y="970960"/>
            <a:ext cx="3264118" cy="4572000"/>
          </a:xfrm>
          <a:prstGeom prst="rect">
            <a:avLst/>
          </a:prstGeom>
          <a:noFill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20502493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25768337-B0D8-4BAC-A656-DD887F5852B3}"/>
              </a:ext>
            </a:extLst>
          </p:cNvPr>
          <p:cNvSpPr txBox="1"/>
          <p:nvPr/>
        </p:nvSpPr>
        <p:spPr>
          <a:xfrm>
            <a:off x="4425236" y="1301937"/>
            <a:ext cx="2971519" cy="33547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600" dirty="0">
                <a:solidFill>
                  <a:srgbClr val="0000FF"/>
                </a:solidFill>
                <a:latin typeface="Constantia" panose="02030602050306030303" pitchFamily="18" charset="0"/>
              </a:rPr>
              <a:t>Card 3</a:t>
            </a:r>
          </a:p>
          <a:p>
            <a:endParaRPr lang="en-US" sz="2800" dirty="0">
              <a:latin typeface="Constantia" panose="02030602050306030303" pitchFamily="18" charset="0"/>
            </a:endParaRPr>
          </a:p>
          <a:p>
            <a:r>
              <a:rPr lang="en-US" sz="2800" dirty="0">
                <a:latin typeface="Constantia" panose="02030602050306030303" pitchFamily="18" charset="0"/>
              </a:rPr>
              <a:t>Elise Mayfield</a:t>
            </a:r>
          </a:p>
          <a:p>
            <a:r>
              <a:rPr lang="en-US" sz="2800" dirty="0">
                <a:latin typeface="Constantia" panose="02030602050306030303" pitchFamily="18" charset="0"/>
              </a:rPr>
              <a:t>Chef, Actor, Baker</a:t>
            </a:r>
          </a:p>
          <a:p>
            <a:r>
              <a:rPr lang="en-US" sz="2800" dirty="0">
                <a:latin typeface="Constantia" panose="02030602050306030303" pitchFamily="18" charset="0"/>
              </a:rPr>
              <a:t>Photo date: 2014</a:t>
            </a:r>
          </a:p>
          <a:p>
            <a:endParaRPr lang="en-US" sz="2800" dirty="0">
              <a:latin typeface="Constantia" panose="02030602050306030303" pitchFamily="18" charset="0"/>
            </a:endParaRPr>
          </a:p>
          <a:p>
            <a:r>
              <a:rPr lang="en-US" sz="3600" dirty="0">
                <a:latin typeface="Constantia" panose="02030602050306030303" pitchFamily="18" charset="0"/>
              </a:rPr>
              <a:t>Age </a:t>
            </a:r>
            <a:r>
              <a:rPr lang="en-US" sz="3600" dirty="0">
                <a:solidFill>
                  <a:srgbClr val="FF0000"/>
                </a:solidFill>
                <a:latin typeface="Constantia" panose="02030602050306030303" pitchFamily="18" charset="0"/>
              </a:rPr>
              <a:t>28</a:t>
            </a:r>
          </a:p>
        </p:txBody>
      </p:sp>
      <p:pic>
        <p:nvPicPr>
          <p:cNvPr id="5" name="Picture 2" descr="http://assets.fox.com/shows/masterchef/photos/Bios---Season-5/elise_bio-1-bio-374x452.jpg">
            <a:extLst>
              <a:ext uri="{FF2B5EF4-FFF2-40B4-BE49-F238E27FC236}">
                <a16:creationId xmlns:a16="http://schemas.microsoft.com/office/drawing/2014/main" id="{4AF0EBD2-4C67-4988-8620-106D71B57A15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7127" r="5222" b="11391"/>
          <a:stretch/>
        </p:blipFill>
        <p:spPr bwMode="auto">
          <a:xfrm>
            <a:off x="751630" y="1051560"/>
            <a:ext cx="3315205" cy="4572000"/>
          </a:xfrm>
          <a:prstGeom prst="rect">
            <a:avLst/>
          </a:prstGeom>
          <a:noFill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36718313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25768337-B0D8-4BAC-A656-DD887F5852B3}"/>
              </a:ext>
            </a:extLst>
          </p:cNvPr>
          <p:cNvSpPr txBox="1"/>
          <p:nvPr/>
        </p:nvSpPr>
        <p:spPr>
          <a:xfrm>
            <a:off x="4425236" y="1301937"/>
            <a:ext cx="4471930" cy="33547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600" dirty="0">
                <a:solidFill>
                  <a:srgbClr val="0000FF"/>
                </a:solidFill>
                <a:latin typeface="Constantia" panose="02030602050306030303" pitchFamily="18" charset="0"/>
              </a:rPr>
              <a:t>Card 4</a:t>
            </a:r>
          </a:p>
          <a:p>
            <a:endParaRPr lang="en-US" sz="2800" dirty="0">
              <a:latin typeface="Constantia" panose="02030602050306030303" pitchFamily="18" charset="0"/>
            </a:endParaRPr>
          </a:p>
          <a:p>
            <a:r>
              <a:rPr lang="en-US" sz="2800" dirty="0">
                <a:latin typeface="Constantia" panose="02030602050306030303" pitchFamily="18" charset="0"/>
              </a:rPr>
              <a:t>Kevin Love</a:t>
            </a:r>
          </a:p>
          <a:p>
            <a:r>
              <a:rPr lang="en-US" sz="2800" dirty="0">
                <a:latin typeface="Constantia" panose="02030602050306030303" pitchFamily="18" charset="0"/>
              </a:rPr>
              <a:t>(then) High School Student</a:t>
            </a:r>
          </a:p>
          <a:p>
            <a:r>
              <a:rPr lang="en-US" sz="2800" dirty="0">
                <a:latin typeface="Constantia" panose="02030602050306030303" pitchFamily="18" charset="0"/>
              </a:rPr>
              <a:t>Photo date: June 2014</a:t>
            </a:r>
          </a:p>
          <a:p>
            <a:endParaRPr lang="en-US" sz="2800" dirty="0">
              <a:latin typeface="Constantia" panose="02030602050306030303" pitchFamily="18" charset="0"/>
            </a:endParaRPr>
          </a:p>
          <a:p>
            <a:r>
              <a:rPr lang="en-US" sz="3600" dirty="0">
                <a:latin typeface="Constantia" panose="02030602050306030303" pitchFamily="18" charset="0"/>
              </a:rPr>
              <a:t>Age </a:t>
            </a:r>
            <a:r>
              <a:rPr lang="en-US" sz="3600" dirty="0">
                <a:solidFill>
                  <a:srgbClr val="FF0000"/>
                </a:solidFill>
                <a:latin typeface="Constantia" panose="02030602050306030303" pitchFamily="18" charset="0"/>
              </a:rPr>
              <a:t>14</a:t>
            </a:r>
          </a:p>
        </p:txBody>
      </p:sp>
      <p:pic>
        <p:nvPicPr>
          <p:cNvPr id="4" name="Picture 2" descr="https://fbcdn-sphotos-c-a.akamaihd.net/hphotos-ak-xpa1/t1.0-9/10447071_10202402956259619_4611738436486884027_n.jpg">
            <a:extLst>
              <a:ext uri="{FF2B5EF4-FFF2-40B4-BE49-F238E27FC236}">
                <a16:creationId xmlns:a16="http://schemas.microsoft.com/office/drawing/2014/main" id="{E1FC3737-4B6B-45DA-943A-AE6220AA03F5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0694" t="8866" r="9389" b="45922"/>
          <a:stretch/>
        </p:blipFill>
        <p:spPr bwMode="auto">
          <a:xfrm>
            <a:off x="962383" y="1074420"/>
            <a:ext cx="3027408" cy="4572000"/>
          </a:xfrm>
          <a:prstGeom prst="rect">
            <a:avLst/>
          </a:prstGeom>
          <a:noFill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73653676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25768337-B0D8-4BAC-A656-DD887F5852B3}"/>
              </a:ext>
            </a:extLst>
          </p:cNvPr>
          <p:cNvSpPr txBox="1"/>
          <p:nvPr/>
        </p:nvSpPr>
        <p:spPr>
          <a:xfrm>
            <a:off x="4425236" y="1301937"/>
            <a:ext cx="3338286" cy="33547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600" dirty="0">
                <a:solidFill>
                  <a:srgbClr val="0000FF"/>
                </a:solidFill>
                <a:latin typeface="Constantia" panose="02030602050306030303" pitchFamily="18" charset="0"/>
              </a:rPr>
              <a:t>Card 5</a:t>
            </a:r>
          </a:p>
          <a:p>
            <a:endParaRPr lang="en-US" sz="2800" dirty="0">
              <a:latin typeface="Constantia" panose="02030602050306030303" pitchFamily="18" charset="0"/>
            </a:endParaRPr>
          </a:p>
          <a:p>
            <a:r>
              <a:rPr lang="en-US" sz="2800" dirty="0">
                <a:latin typeface="Constantia" panose="02030602050306030303" pitchFamily="18" charset="0"/>
              </a:rPr>
              <a:t>Rosemary McGinn</a:t>
            </a:r>
          </a:p>
          <a:p>
            <a:endParaRPr lang="en-US" sz="2800" dirty="0">
              <a:latin typeface="Constantia" panose="02030602050306030303" pitchFamily="18" charset="0"/>
            </a:endParaRPr>
          </a:p>
          <a:p>
            <a:r>
              <a:rPr lang="en-US" sz="2800" dirty="0">
                <a:latin typeface="Constantia" panose="02030602050306030303" pitchFamily="18" charset="0"/>
              </a:rPr>
              <a:t>Photo date: July 2013</a:t>
            </a:r>
          </a:p>
          <a:p>
            <a:endParaRPr lang="en-US" sz="2800" dirty="0">
              <a:latin typeface="Constantia" panose="02030602050306030303" pitchFamily="18" charset="0"/>
            </a:endParaRPr>
          </a:p>
          <a:p>
            <a:r>
              <a:rPr lang="en-US" sz="3600" dirty="0">
                <a:latin typeface="Constantia" panose="02030602050306030303" pitchFamily="18" charset="0"/>
              </a:rPr>
              <a:t>Age </a:t>
            </a:r>
            <a:r>
              <a:rPr lang="en-US" sz="3600" dirty="0">
                <a:solidFill>
                  <a:srgbClr val="FF0000"/>
                </a:solidFill>
                <a:latin typeface="Constantia" panose="02030602050306030303" pitchFamily="18" charset="0"/>
              </a:rPr>
              <a:t>54</a:t>
            </a:r>
          </a:p>
        </p:txBody>
      </p:sp>
      <p:pic>
        <p:nvPicPr>
          <p:cNvPr id="5" name="Picture 2" descr="Mystery: Rosemary McGinn, a 54-year-old realtor, acted drunk for nearly two years due to a tumor that was producing too much insulin, causing her blood sugar levels to drop and starving her brain of fuel">
            <a:extLst>
              <a:ext uri="{FF2B5EF4-FFF2-40B4-BE49-F238E27FC236}">
                <a16:creationId xmlns:a16="http://schemas.microsoft.com/office/drawing/2014/main" id="{5DCD4CB3-3AA7-4470-A215-A8474C347AD9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545" r="37482" b="9824"/>
          <a:stretch/>
        </p:blipFill>
        <p:spPr bwMode="auto">
          <a:xfrm>
            <a:off x="1435959" y="1040130"/>
            <a:ext cx="2660345" cy="4572000"/>
          </a:xfrm>
          <a:prstGeom prst="rect">
            <a:avLst/>
          </a:prstGeom>
          <a:noFill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81662787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25768337-B0D8-4BAC-A656-DD887F5852B3}"/>
              </a:ext>
            </a:extLst>
          </p:cNvPr>
          <p:cNvSpPr txBox="1"/>
          <p:nvPr/>
        </p:nvSpPr>
        <p:spPr>
          <a:xfrm>
            <a:off x="4425236" y="1301937"/>
            <a:ext cx="2833083" cy="33547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600" dirty="0">
                <a:solidFill>
                  <a:srgbClr val="0000FF"/>
                </a:solidFill>
                <a:latin typeface="Constantia" panose="02030602050306030303" pitchFamily="18" charset="0"/>
              </a:rPr>
              <a:t>Card 6</a:t>
            </a:r>
          </a:p>
          <a:p>
            <a:endParaRPr lang="en-US" sz="2800" dirty="0">
              <a:latin typeface="Constantia" panose="02030602050306030303" pitchFamily="18" charset="0"/>
            </a:endParaRPr>
          </a:p>
          <a:p>
            <a:r>
              <a:rPr lang="en-US" sz="2800" dirty="0">
                <a:latin typeface="Constantia" panose="02030602050306030303" pitchFamily="18" charset="0"/>
              </a:rPr>
              <a:t>John Chaney</a:t>
            </a:r>
          </a:p>
          <a:p>
            <a:r>
              <a:rPr lang="en-US" sz="2800" dirty="0">
                <a:latin typeface="Constantia" panose="02030602050306030303" pitchFamily="18" charset="0"/>
              </a:rPr>
              <a:t>Basketball Coach</a:t>
            </a:r>
          </a:p>
          <a:p>
            <a:r>
              <a:rPr lang="en-US" sz="2800" dirty="0">
                <a:latin typeface="Constantia" panose="02030602050306030303" pitchFamily="18" charset="0"/>
              </a:rPr>
              <a:t>Photo date: 2006</a:t>
            </a:r>
          </a:p>
          <a:p>
            <a:endParaRPr lang="en-US" sz="2800" dirty="0">
              <a:latin typeface="Constantia" panose="02030602050306030303" pitchFamily="18" charset="0"/>
            </a:endParaRPr>
          </a:p>
          <a:p>
            <a:r>
              <a:rPr lang="en-US" sz="3600" dirty="0">
                <a:latin typeface="Constantia" panose="02030602050306030303" pitchFamily="18" charset="0"/>
              </a:rPr>
              <a:t>Age </a:t>
            </a:r>
            <a:r>
              <a:rPr lang="en-US" sz="3600" dirty="0">
                <a:solidFill>
                  <a:srgbClr val="FF0000"/>
                </a:solidFill>
                <a:latin typeface="Constantia" panose="02030602050306030303" pitchFamily="18" charset="0"/>
              </a:rPr>
              <a:t>74</a:t>
            </a:r>
          </a:p>
        </p:txBody>
      </p:sp>
      <p:pic>
        <p:nvPicPr>
          <p:cNvPr id="4" name="Picture 2" descr="http://www.gazettenet.com/csp/mediapool/sites/dt.common.streams.StreamServer.cls?STREAMOID=8$YaSEELCYtil7hvl9VzuM$daE2N3K4ZzOUsqbU5sYs7g5Crdt5ebC_xelTSDfARWCsjLu883Ygn4B49Lvm9bPe2QeMKQdVeZmXF$9l$4uCZ8QDXhaHEp3rvzXRJFdy0KqPHLoMevcTLo3h8xh70Y6N_U_CryOsw6FTOdKL_jpQ-&amp;CONTENTTYPE=image/jpeg">
            <a:extLst>
              <a:ext uri="{FF2B5EF4-FFF2-40B4-BE49-F238E27FC236}">
                <a16:creationId xmlns:a16="http://schemas.microsoft.com/office/drawing/2014/main" id="{49DB28B2-D220-4B89-8238-679926D1A88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44867" y="948690"/>
            <a:ext cx="3177540" cy="4572000"/>
          </a:xfrm>
          <a:prstGeom prst="rect">
            <a:avLst/>
          </a:prstGeom>
          <a:noFill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51994762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25768337-B0D8-4BAC-A656-DD887F5852B3}"/>
              </a:ext>
            </a:extLst>
          </p:cNvPr>
          <p:cNvSpPr txBox="1"/>
          <p:nvPr/>
        </p:nvSpPr>
        <p:spPr>
          <a:xfrm>
            <a:off x="4425236" y="1301937"/>
            <a:ext cx="3885231" cy="33547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600" dirty="0">
                <a:solidFill>
                  <a:srgbClr val="0000FF"/>
                </a:solidFill>
                <a:latin typeface="Constantia" panose="02030602050306030303" pitchFamily="18" charset="0"/>
              </a:rPr>
              <a:t>Card 7</a:t>
            </a:r>
          </a:p>
          <a:p>
            <a:endParaRPr lang="en-US" sz="2800" dirty="0">
              <a:latin typeface="Constantia" panose="02030602050306030303" pitchFamily="18" charset="0"/>
            </a:endParaRPr>
          </a:p>
          <a:p>
            <a:r>
              <a:rPr lang="en-US" sz="2800" dirty="0">
                <a:latin typeface="Constantia" panose="02030602050306030303" pitchFamily="18" charset="0"/>
              </a:rPr>
              <a:t>David Storm</a:t>
            </a:r>
          </a:p>
          <a:p>
            <a:endParaRPr lang="en-US" sz="2800" dirty="0">
              <a:latin typeface="Constantia" panose="02030602050306030303" pitchFamily="18" charset="0"/>
            </a:endParaRPr>
          </a:p>
          <a:p>
            <a:r>
              <a:rPr lang="en-US" sz="2800" dirty="0">
                <a:latin typeface="Constantia" panose="02030602050306030303" pitchFamily="18" charset="0"/>
              </a:rPr>
              <a:t>Photo date: August 2014</a:t>
            </a:r>
          </a:p>
          <a:p>
            <a:endParaRPr lang="en-US" sz="2800" dirty="0">
              <a:latin typeface="Constantia" panose="02030602050306030303" pitchFamily="18" charset="0"/>
            </a:endParaRPr>
          </a:p>
          <a:p>
            <a:r>
              <a:rPr lang="en-US" sz="3600" dirty="0">
                <a:latin typeface="Constantia" panose="02030602050306030303" pitchFamily="18" charset="0"/>
              </a:rPr>
              <a:t>Age </a:t>
            </a:r>
            <a:r>
              <a:rPr lang="en-US" sz="3600" dirty="0">
                <a:solidFill>
                  <a:srgbClr val="FF0000"/>
                </a:solidFill>
                <a:latin typeface="Constantia" panose="02030602050306030303" pitchFamily="18" charset="0"/>
              </a:rPr>
              <a:t>44</a:t>
            </a:r>
          </a:p>
        </p:txBody>
      </p:sp>
      <p:pic>
        <p:nvPicPr>
          <p:cNvPr id="5" name="Picture 2" descr="https://scontent-b-ord.xx.fbcdn.net/hphotos-xap1/t1.0-9/1795619_10152306099923977_7262188604397784485_n.jpg">
            <a:extLst>
              <a:ext uri="{FF2B5EF4-FFF2-40B4-BE49-F238E27FC236}">
                <a16:creationId xmlns:a16="http://schemas.microsoft.com/office/drawing/2014/main" id="{B9B596A6-1812-4FC3-8805-7723685D50BD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5092" r="28404"/>
          <a:stretch/>
        </p:blipFill>
        <p:spPr bwMode="auto">
          <a:xfrm>
            <a:off x="331610" y="765810"/>
            <a:ext cx="3875105" cy="4572000"/>
          </a:xfrm>
          <a:prstGeom prst="rect">
            <a:avLst/>
          </a:prstGeom>
          <a:noFill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7519376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25768337-B0D8-4BAC-A656-DD887F5852B3}"/>
              </a:ext>
            </a:extLst>
          </p:cNvPr>
          <p:cNvSpPr txBox="1"/>
          <p:nvPr/>
        </p:nvSpPr>
        <p:spPr>
          <a:xfrm>
            <a:off x="4425236" y="1301937"/>
            <a:ext cx="2674578" cy="33547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600" dirty="0">
                <a:solidFill>
                  <a:srgbClr val="0000FF"/>
                </a:solidFill>
                <a:latin typeface="Constantia" panose="02030602050306030303" pitchFamily="18" charset="0"/>
              </a:rPr>
              <a:t>Card 8</a:t>
            </a:r>
          </a:p>
          <a:p>
            <a:endParaRPr lang="en-US" sz="2800" dirty="0">
              <a:latin typeface="Constantia" panose="02030602050306030303" pitchFamily="18" charset="0"/>
            </a:endParaRPr>
          </a:p>
          <a:p>
            <a:r>
              <a:rPr lang="en-US" sz="2800" dirty="0">
                <a:latin typeface="Constantia" panose="02030602050306030303" pitchFamily="18" charset="0"/>
              </a:rPr>
              <a:t>Margo Glantz</a:t>
            </a:r>
            <a:br>
              <a:rPr lang="en-US" sz="2800" dirty="0">
                <a:latin typeface="Constantia" panose="02030602050306030303" pitchFamily="18" charset="0"/>
              </a:rPr>
            </a:br>
            <a:r>
              <a:rPr lang="en-US" sz="2800" dirty="0">
                <a:latin typeface="Constantia" panose="02030602050306030303" pitchFamily="18" charset="0"/>
              </a:rPr>
              <a:t>Writer</a:t>
            </a:r>
          </a:p>
          <a:p>
            <a:r>
              <a:rPr lang="en-US" sz="2800" dirty="0">
                <a:latin typeface="Constantia" panose="02030602050306030303" pitchFamily="18" charset="0"/>
              </a:rPr>
              <a:t>Photo date: 2013</a:t>
            </a:r>
          </a:p>
          <a:p>
            <a:endParaRPr lang="en-US" sz="2800" dirty="0">
              <a:latin typeface="Constantia" panose="02030602050306030303" pitchFamily="18" charset="0"/>
            </a:endParaRPr>
          </a:p>
          <a:p>
            <a:r>
              <a:rPr lang="en-US" sz="3600" dirty="0">
                <a:latin typeface="Constantia" panose="02030602050306030303" pitchFamily="18" charset="0"/>
              </a:rPr>
              <a:t>Age </a:t>
            </a:r>
            <a:r>
              <a:rPr lang="en-US" sz="3600" dirty="0">
                <a:solidFill>
                  <a:srgbClr val="FF0000"/>
                </a:solidFill>
                <a:latin typeface="Constantia" panose="02030602050306030303" pitchFamily="18" charset="0"/>
              </a:rPr>
              <a:t>83</a:t>
            </a:r>
          </a:p>
        </p:txBody>
      </p:sp>
      <p:pic>
        <p:nvPicPr>
          <p:cNvPr id="6" name="Picture 4" descr="http://www.arteyvidachicago.com/wp-content/uploads/2013/09/Margo_Glantz.jpg">
            <a:extLst>
              <a:ext uri="{FF2B5EF4-FFF2-40B4-BE49-F238E27FC236}">
                <a16:creationId xmlns:a16="http://schemas.microsoft.com/office/drawing/2014/main" id="{10D4B2E1-923F-4896-AC05-F1D174E76279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6584" r="6318"/>
          <a:stretch/>
        </p:blipFill>
        <p:spPr bwMode="auto">
          <a:xfrm>
            <a:off x="1104997" y="1280160"/>
            <a:ext cx="3229928" cy="4572000"/>
          </a:xfrm>
          <a:prstGeom prst="rect">
            <a:avLst/>
          </a:prstGeom>
          <a:noFill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79744688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25768337-B0D8-4BAC-A656-DD887F5852B3}"/>
              </a:ext>
            </a:extLst>
          </p:cNvPr>
          <p:cNvSpPr txBox="1"/>
          <p:nvPr/>
        </p:nvSpPr>
        <p:spPr>
          <a:xfrm>
            <a:off x="4425236" y="1301937"/>
            <a:ext cx="3119700" cy="33547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600" dirty="0">
                <a:solidFill>
                  <a:srgbClr val="0000FF"/>
                </a:solidFill>
                <a:latin typeface="Constantia" panose="02030602050306030303" pitchFamily="18" charset="0"/>
              </a:rPr>
              <a:t>Card 9</a:t>
            </a:r>
          </a:p>
          <a:p>
            <a:endParaRPr lang="en-US" sz="2800" dirty="0">
              <a:latin typeface="Constantia" panose="02030602050306030303" pitchFamily="18" charset="0"/>
            </a:endParaRPr>
          </a:p>
          <a:p>
            <a:r>
              <a:rPr lang="en-US" sz="2800" dirty="0">
                <a:latin typeface="Constantia" panose="02030602050306030303" pitchFamily="18" charset="0"/>
              </a:rPr>
              <a:t>Quade Ross Honey</a:t>
            </a:r>
            <a:br>
              <a:rPr lang="en-US" sz="2800" dirty="0">
                <a:latin typeface="Constantia" panose="02030602050306030303" pitchFamily="18" charset="0"/>
              </a:rPr>
            </a:br>
            <a:r>
              <a:rPr lang="en-US" sz="2800" dirty="0">
                <a:latin typeface="Constantia" panose="02030602050306030303" pitchFamily="18" charset="0"/>
              </a:rPr>
              <a:t>Fugitive</a:t>
            </a:r>
          </a:p>
          <a:p>
            <a:r>
              <a:rPr lang="en-US" sz="2800" dirty="0">
                <a:latin typeface="Constantia" panose="02030602050306030303" pitchFamily="18" charset="0"/>
              </a:rPr>
              <a:t>Photo date: 2012</a:t>
            </a:r>
          </a:p>
          <a:p>
            <a:endParaRPr lang="en-US" sz="2800" dirty="0">
              <a:latin typeface="Constantia" panose="02030602050306030303" pitchFamily="18" charset="0"/>
            </a:endParaRPr>
          </a:p>
          <a:p>
            <a:r>
              <a:rPr lang="en-US" sz="3600" dirty="0">
                <a:latin typeface="Constantia" panose="02030602050306030303" pitchFamily="18" charset="0"/>
              </a:rPr>
              <a:t>Age </a:t>
            </a:r>
            <a:r>
              <a:rPr lang="en-US" sz="3600" dirty="0">
                <a:solidFill>
                  <a:srgbClr val="FF0000"/>
                </a:solidFill>
                <a:latin typeface="Constantia" panose="02030602050306030303" pitchFamily="18" charset="0"/>
              </a:rPr>
              <a:t>24</a:t>
            </a:r>
          </a:p>
        </p:txBody>
      </p:sp>
      <p:pic>
        <p:nvPicPr>
          <p:cNvPr id="4" name="Picture 2" descr="http://static2.stuff.co.nz/1334194607/613/6731613.jpg">
            <a:extLst>
              <a:ext uri="{FF2B5EF4-FFF2-40B4-BE49-F238E27FC236}">
                <a16:creationId xmlns:a16="http://schemas.microsoft.com/office/drawing/2014/main" id="{74ED873E-6E25-4C42-B729-C83AD650761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3595" y="1177290"/>
            <a:ext cx="3801200" cy="4572000"/>
          </a:xfrm>
          <a:prstGeom prst="rect">
            <a:avLst/>
          </a:prstGeom>
          <a:noFill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8814129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25768337-B0D8-4BAC-A656-DD887F5852B3}"/>
              </a:ext>
            </a:extLst>
          </p:cNvPr>
          <p:cNvSpPr txBox="1"/>
          <p:nvPr/>
        </p:nvSpPr>
        <p:spPr>
          <a:xfrm>
            <a:off x="4425236" y="1301937"/>
            <a:ext cx="2674578" cy="33547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600" dirty="0">
                <a:solidFill>
                  <a:srgbClr val="0000FF"/>
                </a:solidFill>
                <a:latin typeface="Constantia" panose="02030602050306030303" pitchFamily="18" charset="0"/>
              </a:rPr>
              <a:t>Card 10</a:t>
            </a:r>
          </a:p>
          <a:p>
            <a:endParaRPr lang="en-US" sz="2800" dirty="0">
              <a:latin typeface="Constantia" panose="02030602050306030303" pitchFamily="18" charset="0"/>
            </a:endParaRPr>
          </a:p>
          <a:p>
            <a:r>
              <a:rPr lang="en-US" sz="2800" dirty="0">
                <a:latin typeface="Constantia" panose="02030602050306030303" pitchFamily="18" charset="0"/>
              </a:rPr>
              <a:t>Bianca Lawson</a:t>
            </a:r>
            <a:br>
              <a:rPr lang="en-US" sz="2800" dirty="0">
                <a:latin typeface="Constantia" panose="02030602050306030303" pitchFamily="18" charset="0"/>
              </a:rPr>
            </a:br>
            <a:r>
              <a:rPr lang="en-US" sz="2800" dirty="0">
                <a:latin typeface="Constantia" panose="02030602050306030303" pitchFamily="18" charset="0"/>
              </a:rPr>
              <a:t>Actress</a:t>
            </a:r>
          </a:p>
          <a:p>
            <a:r>
              <a:rPr lang="en-US" sz="2800" dirty="0">
                <a:latin typeface="Constantia" panose="02030602050306030303" pitchFamily="18" charset="0"/>
              </a:rPr>
              <a:t>Photo date: 2013</a:t>
            </a:r>
          </a:p>
          <a:p>
            <a:endParaRPr lang="en-US" sz="2800" dirty="0">
              <a:latin typeface="Constantia" panose="02030602050306030303" pitchFamily="18" charset="0"/>
            </a:endParaRPr>
          </a:p>
          <a:p>
            <a:r>
              <a:rPr lang="en-US" sz="3600" dirty="0">
                <a:latin typeface="Constantia" panose="02030602050306030303" pitchFamily="18" charset="0"/>
              </a:rPr>
              <a:t>Age </a:t>
            </a:r>
            <a:r>
              <a:rPr lang="en-US" sz="3600" dirty="0">
                <a:solidFill>
                  <a:srgbClr val="FF0000"/>
                </a:solidFill>
                <a:latin typeface="Constantia" panose="02030602050306030303" pitchFamily="18" charset="0"/>
              </a:rPr>
              <a:t>34</a:t>
            </a:r>
          </a:p>
        </p:txBody>
      </p:sp>
      <p:pic>
        <p:nvPicPr>
          <p:cNvPr id="4" name="Picture 2" descr="http://www4.pictures.zimbio.com/gi/Bianca+Lawson+Riddick+Premieres+LA+Part+5+3K0OeeNcDdrl.jpg">
            <a:extLst>
              <a:ext uri="{FF2B5EF4-FFF2-40B4-BE49-F238E27FC236}">
                <a16:creationId xmlns:a16="http://schemas.microsoft.com/office/drawing/2014/main" id="{CCC392D5-FED9-4B36-8577-A6E233FEDFFF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023" r="7539"/>
          <a:stretch/>
        </p:blipFill>
        <p:spPr bwMode="auto">
          <a:xfrm>
            <a:off x="1171522" y="1028700"/>
            <a:ext cx="2965623" cy="4572000"/>
          </a:xfrm>
          <a:prstGeom prst="rect">
            <a:avLst/>
          </a:prstGeom>
          <a:noFill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66465976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2" descr="http://www.ctvnews.ca/polopoly_fs/1.1797177!/httpImage/image.jpg_gen/derivatives/landscape_960/image.jpg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3829" r="28671"/>
          <a:stretch/>
        </p:blipFill>
        <p:spPr bwMode="auto">
          <a:xfrm>
            <a:off x="1536358" y="0"/>
            <a:ext cx="1828800" cy="2743200"/>
          </a:xfrm>
          <a:prstGeom prst="rect">
            <a:avLst/>
          </a:prstGeom>
          <a:noFill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TextBox 4"/>
          <p:cNvSpPr txBox="1"/>
          <p:nvPr/>
        </p:nvSpPr>
        <p:spPr>
          <a:xfrm>
            <a:off x="1598138" y="2741382"/>
            <a:ext cx="903497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dirty="0"/>
              <a:t>#1 Age </a:t>
            </a:r>
            <a:r>
              <a:rPr lang="en-US" sz="2000" b="1" dirty="0"/>
              <a:t>21</a:t>
            </a:r>
            <a:r>
              <a:rPr lang="en-US" sz="2000" dirty="0"/>
              <a:t>                 #2 Age </a:t>
            </a:r>
            <a:r>
              <a:rPr lang="en-US" sz="2000" b="1" dirty="0"/>
              <a:t>64</a:t>
            </a:r>
            <a:r>
              <a:rPr lang="en-US" sz="2000" dirty="0"/>
              <a:t>                #3 Age </a:t>
            </a:r>
            <a:r>
              <a:rPr lang="en-US" sz="2000" b="1" dirty="0"/>
              <a:t>28</a:t>
            </a:r>
            <a:r>
              <a:rPr lang="en-US" sz="2000" dirty="0"/>
              <a:t>                #4 Age </a:t>
            </a:r>
            <a:r>
              <a:rPr lang="en-US" sz="2000" b="1" dirty="0"/>
              <a:t>14</a:t>
            </a:r>
            <a:r>
              <a:rPr lang="en-US" sz="2000" dirty="0"/>
              <a:t>               #5 Age </a:t>
            </a:r>
            <a:r>
              <a:rPr lang="en-US" sz="2000" b="1" dirty="0"/>
              <a:t>54</a:t>
            </a:r>
          </a:p>
        </p:txBody>
      </p:sp>
      <p:pic>
        <p:nvPicPr>
          <p:cNvPr id="6" name="Picture 2" descr="http://www.politicalappointeeproject.org/sites/default/files/Katherine_Archuleta_0.jp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65159" y="0"/>
            <a:ext cx="1958471" cy="2743200"/>
          </a:xfrm>
          <a:prstGeom prst="rect">
            <a:avLst/>
          </a:prstGeom>
          <a:noFill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" name="Picture 2" descr="http://assets.fox.com/shows/masterchef/photos/Bios---Season-5/elise_bio-1-bio-374x452.jpg"/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7127" r="5222" b="11391"/>
          <a:stretch/>
        </p:blipFill>
        <p:spPr bwMode="auto">
          <a:xfrm>
            <a:off x="5323630" y="0"/>
            <a:ext cx="1989123" cy="2743200"/>
          </a:xfrm>
          <a:prstGeom prst="rect">
            <a:avLst/>
          </a:prstGeom>
          <a:noFill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1" name="Picture 2" descr="https://fbcdn-sphotos-c-a.akamaihd.net/hphotos-ak-xpa1/t1.0-9/10447071_10202402956259619_4611738436486884027_n.jpg"/>
          <p:cNvPicPr>
            <a:picLocks noChangeAspect="1" noChangeArrowheads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0694" t="8866" r="9389" b="45922"/>
          <a:stretch/>
        </p:blipFill>
        <p:spPr bwMode="auto">
          <a:xfrm>
            <a:off x="7294604" y="0"/>
            <a:ext cx="1816445" cy="2743200"/>
          </a:xfrm>
          <a:prstGeom prst="rect">
            <a:avLst/>
          </a:prstGeom>
          <a:noFill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2" name="Picture 2" descr="Mystery: Rosemary McGinn, a 54-year-old realtor, acted drunk for nearly two years due to a tumor that was producing too much insulin, causing her blood sugar levels to drop and starving her brain of fuel"/>
          <p:cNvPicPr>
            <a:picLocks noChangeAspect="1" noChangeArrowheads="1"/>
          </p:cNvPicPr>
          <p:nvPr/>
        </p:nvPicPr>
        <p:blipFill rotWithShape="1"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545" r="37482" b="9824"/>
          <a:stretch/>
        </p:blipFill>
        <p:spPr bwMode="auto">
          <a:xfrm>
            <a:off x="9036909" y="0"/>
            <a:ext cx="1596207" cy="2743200"/>
          </a:xfrm>
          <a:prstGeom prst="rect">
            <a:avLst/>
          </a:prstGeom>
          <a:noFill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3" name="Picture 2" descr="http://www.gazettenet.com/csp/mediapool/sites/dt.common.streams.StreamServer.cls?STREAMOID=8$YaSEELCYtil7hvl9VzuM$daE2N3K4ZzOUsqbU5sYs7g5Crdt5ebC_xelTSDfARWCsjLu883Ygn4B49Lvm9bPe2QeMKQdVeZmXF$9l$4uCZ8QDXhaHEp3rvzXRJFdy0KqPHLoMevcTLo3h8xh70Y6N_U_CryOsw6FTOdKL_jpQ-&amp;CONTENTTYPE=image/jpeg"/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36357" y="4114800"/>
            <a:ext cx="1906524" cy="2743200"/>
          </a:xfrm>
          <a:prstGeom prst="rect">
            <a:avLst/>
          </a:prstGeom>
          <a:noFill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4" name="Picture 2" descr="https://scontent-b-ord.xx.fbcdn.net/hphotos-xap1/t1.0-9/1795619_10152306099923977_7262188604397784485_n.jpg"/>
          <p:cNvPicPr>
            <a:picLocks noChangeAspect="1" noChangeArrowheads="1"/>
          </p:cNvPicPr>
          <p:nvPr/>
        </p:nvPicPr>
        <p:blipFill rotWithShape="1"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5092" r="28404"/>
          <a:stretch/>
        </p:blipFill>
        <p:spPr bwMode="auto">
          <a:xfrm>
            <a:off x="3337700" y="4114800"/>
            <a:ext cx="2325063" cy="2743200"/>
          </a:xfrm>
          <a:prstGeom prst="rect">
            <a:avLst/>
          </a:prstGeom>
          <a:noFill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6" name="TextBox 15"/>
          <p:cNvSpPr txBox="1"/>
          <p:nvPr/>
        </p:nvSpPr>
        <p:spPr>
          <a:xfrm>
            <a:off x="1602254" y="3669199"/>
            <a:ext cx="903497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dirty="0"/>
              <a:t>#6 Age </a:t>
            </a:r>
            <a:r>
              <a:rPr lang="en-US" sz="2000" b="1" dirty="0"/>
              <a:t>74</a:t>
            </a:r>
            <a:r>
              <a:rPr lang="en-US" sz="2000" dirty="0"/>
              <a:t>                 #7 Age </a:t>
            </a:r>
            <a:r>
              <a:rPr lang="en-US" sz="2000" b="1" dirty="0"/>
              <a:t>44</a:t>
            </a:r>
            <a:r>
              <a:rPr lang="en-US" sz="2000" dirty="0"/>
              <a:t>                #8 Age </a:t>
            </a:r>
            <a:r>
              <a:rPr lang="en-US" sz="2000" b="1" dirty="0"/>
              <a:t>83</a:t>
            </a:r>
            <a:r>
              <a:rPr lang="en-US" sz="2000" dirty="0"/>
              <a:t>                #9 Age </a:t>
            </a:r>
            <a:r>
              <a:rPr lang="en-US" sz="2000" b="1" dirty="0"/>
              <a:t>24</a:t>
            </a:r>
            <a:r>
              <a:rPr lang="en-US" sz="2000" dirty="0"/>
              <a:t>              #10 Age </a:t>
            </a:r>
            <a:r>
              <a:rPr lang="en-US" sz="2000" b="1" dirty="0"/>
              <a:t>34</a:t>
            </a:r>
          </a:p>
        </p:txBody>
      </p:sp>
      <p:pic>
        <p:nvPicPr>
          <p:cNvPr id="17" name="Picture 2" descr="http://static2.stuff.co.nz/1334194607/613/6731613.jpg"/>
          <p:cNvPicPr>
            <a:picLocks noChangeAspect="1" noChangeArrowheads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911545" y="4114800"/>
            <a:ext cx="2280720" cy="2743200"/>
          </a:xfrm>
          <a:prstGeom prst="rect">
            <a:avLst/>
          </a:prstGeom>
          <a:noFill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5" name="Picture 4" descr="http://www.arteyvidachicago.com/wp-content/uploads/2013/09/Margo_Glantz.jpg"/>
          <p:cNvPicPr>
            <a:picLocks noChangeAspect="1" noChangeArrowheads="1"/>
          </p:cNvPicPr>
          <p:nvPr/>
        </p:nvPicPr>
        <p:blipFill rotWithShape="1"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6584" r="6318"/>
          <a:stretch/>
        </p:blipFill>
        <p:spPr bwMode="auto">
          <a:xfrm>
            <a:off x="5208368" y="4114800"/>
            <a:ext cx="1937957" cy="2743200"/>
          </a:xfrm>
          <a:prstGeom prst="rect">
            <a:avLst/>
          </a:prstGeom>
          <a:noFill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8" name="Picture 2" descr="http://www4.pictures.zimbio.com/gi/Bianca+Lawson+Riddick+Premieres+LA+Part+5+3K0OeeNcDdrl.jpg"/>
          <p:cNvPicPr>
            <a:picLocks noChangeAspect="1" noChangeArrowheads="1"/>
          </p:cNvPicPr>
          <p:nvPr/>
        </p:nvPicPr>
        <p:blipFill rotWithShape="1"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023" r="7539"/>
          <a:stretch/>
        </p:blipFill>
        <p:spPr bwMode="auto">
          <a:xfrm>
            <a:off x="8863912" y="4114800"/>
            <a:ext cx="1779374" cy="2743200"/>
          </a:xfrm>
          <a:prstGeom prst="rect">
            <a:avLst/>
          </a:prstGeom>
          <a:noFill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717C80BB-24DC-4E79-B5D9-FDAE94AD6F1F}"/>
              </a:ext>
            </a:extLst>
          </p:cNvPr>
          <p:cNvSpPr txBox="1"/>
          <p:nvPr/>
        </p:nvSpPr>
        <p:spPr>
          <a:xfrm>
            <a:off x="861342" y="3078761"/>
            <a:ext cx="1122423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>
                <a:latin typeface="Comic Sans MS" panose="030F0702030302020204" pitchFamily="66" charset="0"/>
              </a:rPr>
              <a:t>2014-17 </a:t>
            </a:r>
            <a:br>
              <a:rPr lang="en-US" dirty="0">
                <a:latin typeface="Comic Sans MS" panose="030F0702030302020204" pitchFamily="66" charset="0"/>
              </a:rPr>
            </a:br>
            <a:r>
              <a:rPr lang="en-US" dirty="0">
                <a:latin typeface="Comic Sans MS" panose="030F0702030302020204" pitchFamily="66" charset="0"/>
              </a:rPr>
              <a:t>Errors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4F44AEEF-C613-4134-97BF-2040ED5767BE}"/>
              </a:ext>
            </a:extLst>
          </p:cNvPr>
          <p:cNvSpPr txBox="1"/>
          <p:nvPr/>
        </p:nvSpPr>
        <p:spPr>
          <a:xfrm>
            <a:off x="2526484" y="3017241"/>
            <a:ext cx="63511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0000FF"/>
                </a:solidFill>
                <a:latin typeface="Comic Sans MS" panose="030F0702030302020204" pitchFamily="66" charset="0"/>
              </a:rPr>
              <a:t>+4.5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CCE1F4A8-1E57-481B-8870-5BC36840B496}"/>
              </a:ext>
            </a:extLst>
          </p:cNvPr>
          <p:cNvSpPr txBox="1"/>
          <p:nvPr/>
        </p:nvSpPr>
        <p:spPr>
          <a:xfrm>
            <a:off x="2511104" y="3426904"/>
            <a:ext cx="62068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  <a:latin typeface="Comic Sans MS" panose="030F0702030302020204" pitchFamily="66" charset="0"/>
              </a:rPr>
              <a:t>-4.9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0CD1436C-DC49-4CDC-9321-AACDE4BC6A54}"/>
              </a:ext>
            </a:extLst>
          </p:cNvPr>
          <p:cNvSpPr txBox="1"/>
          <p:nvPr/>
        </p:nvSpPr>
        <p:spPr>
          <a:xfrm>
            <a:off x="4482519" y="3017241"/>
            <a:ext cx="68800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  <a:latin typeface="Comic Sans MS" panose="030F0702030302020204" pitchFamily="66" charset="0"/>
              </a:rPr>
              <a:t>-11.8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C4D98619-449C-4A63-BAB4-14BC2EEC3A0D}"/>
              </a:ext>
            </a:extLst>
          </p:cNvPr>
          <p:cNvSpPr txBox="1"/>
          <p:nvPr/>
        </p:nvSpPr>
        <p:spPr>
          <a:xfrm>
            <a:off x="4467139" y="3426904"/>
            <a:ext cx="63511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0000FF"/>
                </a:solidFill>
                <a:latin typeface="Comic Sans MS" panose="030F0702030302020204" pitchFamily="66" charset="0"/>
              </a:rPr>
              <a:t>+2.7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EB110440-98DC-46C9-A417-46E38040B5CE}"/>
              </a:ext>
            </a:extLst>
          </p:cNvPr>
          <p:cNvSpPr txBox="1"/>
          <p:nvPr/>
        </p:nvSpPr>
        <p:spPr>
          <a:xfrm>
            <a:off x="6480499" y="3017241"/>
            <a:ext cx="62068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  <a:latin typeface="Comic Sans MS" panose="030F0702030302020204" pitchFamily="66" charset="0"/>
              </a:rPr>
              <a:t>-0.7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C0F7A089-AD0C-40D8-9B2A-8A833AECA036}"/>
              </a:ext>
            </a:extLst>
          </p:cNvPr>
          <p:cNvSpPr txBox="1"/>
          <p:nvPr/>
        </p:nvSpPr>
        <p:spPr>
          <a:xfrm>
            <a:off x="6465119" y="3426904"/>
            <a:ext cx="62068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  <a:latin typeface="Comic Sans MS" panose="030F0702030302020204" pitchFamily="66" charset="0"/>
              </a:rPr>
              <a:t>-7.8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AC25B8D8-525C-47F8-8C0A-57B2147C011C}"/>
              </a:ext>
            </a:extLst>
          </p:cNvPr>
          <p:cNvSpPr txBox="1"/>
          <p:nvPr/>
        </p:nvSpPr>
        <p:spPr>
          <a:xfrm>
            <a:off x="8200244" y="3017241"/>
            <a:ext cx="63511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0000FF"/>
                </a:solidFill>
                <a:latin typeface="Comic Sans MS" panose="030F0702030302020204" pitchFamily="66" charset="0"/>
              </a:rPr>
              <a:t>+0.4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BC82380E-C7B9-40CD-B876-2CB134D8B339}"/>
              </a:ext>
            </a:extLst>
          </p:cNvPr>
          <p:cNvSpPr txBox="1"/>
          <p:nvPr/>
        </p:nvSpPr>
        <p:spPr>
          <a:xfrm>
            <a:off x="8184864" y="3426904"/>
            <a:ext cx="70243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0000FF"/>
                </a:solidFill>
                <a:latin typeface="Comic Sans MS" panose="030F0702030302020204" pitchFamily="66" charset="0"/>
              </a:rPr>
              <a:t>+10.1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E4F77C2C-B336-43A3-86C7-969F15D6D616}"/>
              </a:ext>
            </a:extLst>
          </p:cNvPr>
          <p:cNvSpPr txBox="1"/>
          <p:nvPr/>
        </p:nvSpPr>
        <p:spPr>
          <a:xfrm>
            <a:off x="10047222" y="3017241"/>
            <a:ext cx="62068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  <a:latin typeface="Comic Sans MS" panose="030F0702030302020204" pitchFamily="66" charset="0"/>
              </a:rPr>
              <a:t>-0.3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EC0FEA0D-1599-4C3C-AEFE-2557486D40D3}"/>
              </a:ext>
            </a:extLst>
          </p:cNvPr>
          <p:cNvSpPr txBox="1"/>
          <p:nvPr/>
        </p:nvSpPr>
        <p:spPr>
          <a:xfrm>
            <a:off x="10031842" y="3426904"/>
            <a:ext cx="62068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  <a:latin typeface="Comic Sans MS" panose="030F0702030302020204" pitchFamily="66" charset="0"/>
              </a:rPr>
              <a:t>-7.2</a:t>
            </a:r>
          </a:p>
        </p:txBody>
      </p:sp>
    </p:spTree>
    <p:extLst>
      <p:ext uri="{BB962C8B-B14F-4D97-AF65-F5344CB8AC3E}">
        <p14:creationId xmlns:p14="http://schemas.microsoft.com/office/powerpoint/2010/main" val="273404153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2" descr="http://www.ctvnews.ca/polopoly_fs/1.1797177!/httpImage/image.jpg_gen/derivatives/landscape_960/image.jpg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3829" r="28671"/>
          <a:stretch/>
        </p:blipFill>
        <p:spPr bwMode="auto">
          <a:xfrm>
            <a:off x="1536358" y="0"/>
            <a:ext cx="1828800" cy="2743200"/>
          </a:xfrm>
          <a:prstGeom prst="rect">
            <a:avLst/>
          </a:prstGeom>
          <a:noFill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TextBox 4"/>
          <p:cNvSpPr txBox="1"/>
          <p:nvPr/>
        </p:nvSpPr>
        <p:spPr>
          <a:xfrm>
            <a:off x="1598138" y="2741382"/>
            <a:ext cx="903497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dirty="0"/>
              <a:t>#1 Age </a:t>
            </a:r>
            <a:r>
              <a:rPr lang="en-US" sz="2000" b="1" dirty="0"/>
              <a:t>21</a:t>
            </a:r>
            <a:r>
              <a:rPr lang="en-US" sz="2000" dirty="0"/>
              <a:t>                 #2 Age </a:t>
            </a:r>
            <a:r>
              <a:rPr lang="en-US" sz="2000" b="1" dirty="0"/>
              <a:t>64</a:t>
            </a:r>
            <a:r>
              <a:rPr lang="en-US" sz="2000" dirty="0"/>
              <a:t>                #3 Age </a:t>
            </a:r>
            <a:r>
              <a:rPr lang="en-US" sz="2000" b="1" dirty="0"/>
              <a:t>28</a:t>
            </a:r>
            <a:r>
              <a:rPr lang="en-US" sz="2000" dirty="0"/>
              <a:t>                #4 Age </a:t>
            </a:r>
            <a:r>
              <a:rPr lang="en-US" sz="2000" b="1" dirty="0"/>
              <a:t>14</a:t>
            </a:r>
            <a:r>
              <a:rPr lang="en-US" sz="2000" dirty="0"/>
              <a:t>               #5 Age </a:t>
            </a:r>
            <a:r>
              <a:rPr lang="en-US" sz="2000" b="1" dirty="0"/>
              <a:t>54</a:t>
            </a:r>
          </a:p>
        </p:txBody>
      </p:sp>
      <p:pic>
        <p:nvPicPr>
          <p:cNvPr id="6" name="Picture 2" descr="http://www.politicalappointeeproject.org/sites/default/files/Katherine_Archuleta_0.jp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65159" y="0"/>
            <a:ext cx="1958471" cy="2743200"/>
          </a:xfrm>
          <a:prstGeom prst="rect">
            <a:avLst/>
          </a:prstGeom>
          <a:noFill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" name="Picture 2" descr="http://assets.fox.com/shows/masterchef/photos/Bios---Season-5/elise_bio-1-bio-374x452.jpg"/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7127" r="5222" b="11391"/>
          <a:stretch/>
        </p:blipFill>
        <p:spPr bwMode="auto">
          <a:xfrm>
            <a:off x="5323630" y="0"/>
            <a:ext cx="1989123" cy="2743200"/>
          </a:xfrm>
          <a:prstGeom prst="rect">
            <a:avLst/>
          </a:prstGeom>
          <a:noFill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1" name="Picture 2" descr="https://fbcdn-sphotos-c-a.akamaihd.net/hphotos-ak-xpa1/t1.0-9/10447071_10202402956259619_4611738436486884027_n.jpg"/>
          <p:cNvPicPr>
            <a:picLocks noChangeAspect="1" noChangeArrowheads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0694" t="8866" r="9389" b="45922"/>
          <a:stretch/>
        </p:blipFill>
        <p:spPr bwMode="auto">
          <a:xfrm>
            <a:off x="7294604" y="0"/>
            <a:ext cx="1816445" cy="2743200"/>
          </a:xfrm>
          <a:prstGeom prst="rect">
            <a:avLst/>
          </a:prstGeom>
          <a:noFill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2" name="Picture 2" descr="Mystery: Rosemary McGinn, a 54-year-old realtor, acted drunk for nearly two years due to a tumor that was producing too much insulin, causing her blood sugar levels to drop and starving her brain of fuel"/>
          <p:cNvPicPr>
            <a:picLocks noChangeAspect="1" noChangeArrowheads="1"/>
          </p:cNvPicPr>
          <p:nvPr/>
        </p:nvPicPr>
        <p:blipFill rotWithShape="1"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545" r="37482" b="9824"/>
          <a:stretch/>
        </p:blipFill>
        <p:spPr bwMode="auto">
          <a:xfrm>
            <a:off x="9036909" y="0"/>
            <a:ext cx="1596207" cy="2743200"/>
          </a:xfrm>
          <a:prstGeom prst="rect">
            <a:avLst/>
          </a:prstGeom>
          <a:noFill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3" name="Picture 2" descr="http://www.gazettenet.com/csp/mediapool/sites/dt.common.streams.StreamServer.cls?STREAMOID=8$YaSEELCYtil7hvl9VzuM$daE2N3K4ZzOUsqbU5sYs7g5Crdt5ebC_xelTSDfARWCsjLu883Ygn4B49Lvm9bPe2QeMKQdVeZmXF$9l$4uCZ8QDXhaHEp3rvzXRJFdy0KqPHLoMevcTLo3h8xh70Y6N_U_CryOsw6FTOdKL_jpQ-&amp;CONTENTTYPE=image/jpeg"/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36357" y="4114800"/>
            <a:ext cx="1906524" cy="2743200"/>
          </a:xfrm>
          <a:prstGeom prst="rect">
            <a:avLst/>
          </a:prstGeom>
          <a:noFill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4" name="Picture 2" descr="https://scontent-b-ord.xx.fbcdn.net/hphotos-xap1/t1.0-9/1795619_10152306099923977_7262188604397784485_n.jpg"/>
          <p:cNvPicPr>
            <a:picLocks noChangeAspect="1" noChangeArrowheads="1"/>
          </p:cNvPicPr>
          <p:nvPr/>
        </p:nvPicPr>
        <p:blipFill rotWithShape="1"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5092" r="28404"/>
          <a:stretch/>
        </p:blipFill>
        <p:spPr bwMode="auto">
          <a:xfrm>
            <a:off x="3337700" y="4114800"/>
            <a:ext cx="2325063" cy="2743200"/>
          </a:xfrm>
          <a:prstGeom prst="rect">
            <a:avLst/>
          </a:prstGeom>
          <a:noFill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6" name="TextBox 15"/>
          <p:cNvSpPr txBox="1"/>
          <p:nvPr/>
        </p:nvSpPr>
        <p:spPr>
          <a:xfrm>
            <a:off x="1602254" y="3669199"/>
            <a:ext cx="903497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dirty="0"/>
              <a:t>#6 Age </a:t>
            </a:r>
            <a:r>
              <a:rPr lang="en-US" sz="2000" b="1" dirty="0"/>
              <a:t>74</a:t>
            </a:r>
            <a:r>
              <a:rPr lang="en-US" sz="2000" dirty="0"/>
              <a:t>                 #7 Age </a:t>
            </a:r>
            <a:r>
              <a:rPr lang="en-US" sz="2000" b="1" dirty="0"/>
              <a:t>44</a:t>
            </a:r>
            <a:r>
              <a:rPr lang="en-US" sz="2000" dirty="0"/>
              <a:t>                #8 Age </a:t>
            </a:r>
            <a:r>
              <a:rPr lang="en-US" sz="2000" b="1" dirty="0"/>
              <a:t>83</a:t>
            </a:r>
            <a:r>
              <a:rPr lang="en-US" sz="2000" dirty="0"/>
              <a:t>                #9 Age </a:t>
            </a:r>
            <a:r>
              <a:rPr lang="en-US" sz="2000" b="1" dirty="0"/>
              <a:t>24</a:t>
            </a:r>
            <a:r>
              <a:rPr lang="en-US" sz="2000" dirty="0"/>
              <a:t>              #10 Age </a:t>
            </a:r>
            <a:r>
              <a:rPr lang="en-US" sz="2000" b="1" dirty="0"/>
              <a:t>34</a:t>
            </a:r>
          </a:p>
        </p:txBody>
      </p:sp>
      <p:pic>
        <p:nvPicPr>
          <p:cNvPr id="17" name="Picture 2" descr="http://static2.stuff.co.nz/1334194607/613/6731613.jpg"/>
          <p:cNvPicPr>
            <a:picLocks noChangeAspect="1" noChangeArrowheads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911545" y="4114800"/>
            <a:ext cx="2280720" cy="2743200"/>
          </a:xfrm>
          <a:prstGeom prst="rect">
            <a:avLst/>
          </a:prstGeom>
          <a:noFill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5" name="Picture 4" descr="http://www.arteyvidachicago.com/wp-content/uploads/2013/09/Margo_Glantz.jpg"/>
          <p:cNvPicPr>
            <a:picLocks noChangeAspect="1" noChangeArrowheads="1"/>
          </p:cNvPicPr>
          <p:nvPr/>
        </p:nvPicPr>
        <p:blipFill rotWithShape="1"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6584" r="6318"/>
          <a:stretch/>
        </p:blipFill>
        <p:spPr bwMode="auto">
          <a:xfrm>
            <a:off x="5208368" y="4114800"/>
            <a:ext cx="1937957" cy="2743200"/>
          </a:xfrm>
          <a:prstGeom prst="rect">
            <a:avLst/>
          </a:prstGeom>
          <a:noFill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8" name="Picture 2" descr="http://www4.pictures.zimbio.com/gi/Bianca+Lawson+Riddick+Premieres+LA+Part+5+3K0OeeNcDdrl.jpg"/>
          <p:cNvPicPr>
            <a:picLocks noChangeAspect="1" noChangeArrowheads="1"/>
          </p:cNvPicPr>
          <p:nvPr/>
        </p:nvPicPr>
        <p:blipFill rotWithShape="1"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023" r="7539"/>
          <a:stretch/>
        </p:blipFill>
        <p:spPr bwMode="auto">
          <a:xfrm>
            <a:off x="8863912" y="4114800"/>
            <a:ext cx="1779374" cy="2743200"/>
          </a:xfrm>
          <a:prstGeom prst="rect">
            <a:avLst/>
          </a:prstGeom>
          <a:noFill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717C80BB-24DC-4E79-B5D9-FDAE94AD6F1F}"/>
              </a:ext>
            </a:extLst>
          </p:cNvPr>
          <p:cNvSpPr txBox="1"/>
          <p:nvPr/>
        </p:nvSpPr>
        <p:spPr>
          <a:xfrm>
            <a:off x="307670" y="2790478"/>
            <a:ext cx="1051891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Comic Sans MS" panose="030F0702030302020204" pitchFamily="66" charset="0"/>
              </a:rPr>
              <a:t>2022</a:t>
            </a:r>
            <a:br>
              <a:rPr lang="en-US" dirty="0">
                <a:latin typeface="Comic Sans MS" panose="030F0702030302020204" pitchFamily="66" charset="0"/>
              </a:rPr>
            </a:br>
            <a:r>
              <a:rPr lang="en-US" dirty="0">
                <a:latin typeface="Comic Sans MS" panose="030F0702030302020204" pitchFamily="66" charset="0"/>
              </a:rPr>
              <a:t>Mean</a:t>
            </a:r>
          </a:p>
          <a:p>
            <a:r>
              <a:rPr lang="en-US" dirty="0">
                <a:latin typeface="Comic Sans MS" panose="030F0702030302020204" pitchFamily="66" charset="0"/>
              </a:rPr>
              <a:t>Guesses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CCE1F4A8-1E57-481B-8870-5BC36840B496}"/>
              </a:ext>
            </a:extLst>
          </p:cNvPr>
          <p:cNvSpPr txBox="1"/>
          <p:nvPr/>
        </p:nvSpPr>
        <p:spPr>
          <a:xfrm>
            <a:off x="2248456" y="3426904"/>
            <a:ext cx="66556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  <a:latin typeface="Comic Sans MS" panose="030F0702030302020204" pitchFamily="66" charset="0"/>
              </a:rPr>
              <a:t>69.9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0CD1436C-DC49-4CDC-9321-AACDE4BC6A54}"/>
              </a:ext>
            </a:extLst>
          </p:cNvPr>
          <p:cNvSpPr txBox="1"/>
          <p:nvPr/>
        </p:nvSpPr>
        <p:spPr>
          <a:xfrm>
            <a:off x="4219871" y="3017241"/>
            <a:ext cx="66556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  <a:latin typeface="Comic Sans MS" panose="030F0702030302020204" pitchFamily="66" charset="0"/>
              </a:rPr>
              <a:t>54.3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C4D98619-449C-4A63-BAB4-14BC2EEC3A0D}"/>
              </a:ext>
            </a:extLst>
          </p:cNvPr>
          <p:cNvSpPr txBox="1"/>
          <p:nvPr/>
        </p:nvSpPr>
        <p:spPr>
          <a:xfrm>
            <a:off x="4204491" y="3426904"/>
            <a:ext cx="6286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0000FF"/>
                </a:solidFill>
                <a:latin typeface="Comic Sans MS" panose="030F0702030302020204" pitchFamily="66" charset="0"/>
              </a:rPr>
              <a:t>50.1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EB110440-98DC-46C9-A417-46E38040B5CE}"/>
              </a:ext>
            </a:extLst>
          </p:cNvPr>
          <p:cNvSpPr txBox="1"/>
          <p:nvPr/>
        </p:nvSpPr>
        <p:spPr>
          <a:xfrm>
            <a:off x="6217851" y="3017241"/>
            <a:ext cx="66556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0000FF"/>
                </a:solidFill>
                <a:latin typeface="Comic Sans MS" panose="030F0702030302020204" pitchFamily="66" charset="0"/>
              </a:rPr>
              <a:t>30.6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C0F7A089-AD0C-40D8-9B2A-8A833AECA036}"/>
              </a:ext>
            </a:extLst>
          </p:cNvPr>
          <p:cNvSpPr txBox="1"/>
          <p:nvPr/>
        </p:nvSpPr>
        <p:spPr>
          <a:xfrm>
            <a:off x="6202471" y="3426904"/>
            <a:ext cx="66556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  <a:latin typeface="Comic Sans MS" panose="030F0702030302020204" pitchFamily="66" charset="0"/>
              </a:rPr>
              <a:t>78.2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AC25B8D8-525C-47F8-8C0A-57B2147C011C}"/>
              </a:ext>
            </a:extLst>
          </p:cNvPr>
          <p:cNvSpPr txBox="1"/>
          <p:nvPr/>
        </p:nvSpPr>
        <p:spPr>
          <a:xfrm>
            <a:off x="8200244" y="3017241"/>
            <a:ext cx="6286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0000FF"/>
                </a:solidFill>
                <a:latin typeface="Comic Sans MS" panose="030F0702030302020204" pitchFamily="66" charset="0"/>
              </a:rPr>
              <a:t>16.3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BC82380E-C7B9-40CD-B876-2CB134D8B339}"/>
              </a:ext>
            </a:extLst>
          </p:cNvPr>
          <p:cNvSpPr txBox="1"/>
          <p:nvPr/>
        </p:nvSpPr>
        <p:spPr>
          <a:xfrm>
            <a:off x="8184864" y="3426904"/>
            <a:ext cx="66556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0000FF"/>
                </a:solidFill>
                <a:latin typeface="Comic Sans MS" panose="030F0702030302020204" pitchFamily="66" charset="0"/>
              </a:rPr>
              <a:t>34.6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E4F77C2C-B336-43A3-86C7-969F15D6D616}"/>
              </a:ext>
            </a:extLst>
          </p:cNvPr>
          <p:cNvSpPr txBox="1"/>
          <p:nvPr/>
        </p:nvSpPr>
        <p:spPr>
          <a:xfrm>
            <a:off x="10047222" y="3017241"/>
            <a:ext cx="66556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0000FF"/>
                </a:solidFill>
                <a:latin typeface="Comic Sans MS" panose="030F0702030302020204" pitchFamily="66" charset="0"/>
              </a:rPr>
              <a:t>62.4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EC0FEA0D-1599-4C3C-AEFE-2557486D40D3}"/>
              </a:ext>
            </a:extLst>
          </p:cNvPr>
          <p:cNvSpPr txBox="1"/>
          <p:nvPr/>
        </p:nvSpPr>
        <p:spPr>
          <a:xfrm>
            <a:off x="10031842" y="3426904"/>
            <a:ext cx="66556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  <a:latin typeface="Comic Sans MS" panose="030F0702030302020204" pitchFamily="66" charset="0"/>
              </a:rPr>
              <a:t>30.2</a:t>
            </a:r>
          </a:p>
        </p:txBody>
      </p:sp>
    </p:spTree>
    <p:extLst>
      <p:ext uri="{BB962C8B-B14F-4D97-AF65-F5344CB8AC3E}">
        <p14:creationId xmlns:p14="http://schemas.microsoft.com/office/powerpoint/2010/main" val="71206659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2" descr="http://www.ctvnews.ca/polopoly_fs/1.1797177!/httpImage/image.jpg_gen/derivatives/landscape_960/image.jpg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3829" r="28671"/>
          <a:stretch/>
        </p:blipFill>
        <p:spPr bwMode="auto">
          <a:xfrm>
            <a:off x="1536358" y="0"/>
            <a:ext cx="1828800" cy="2743200"/>
          </a:xfrm>
          <a:prstGeom prst="rect">
            <a:avLst/>
          </a:prstGeom>
          <a:noFill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TextBox 4"/>
          <p:cNvSpPr txBox="1"/>
          <p:nvPr/>
        </p:nvSpPr>
        <p:spPr>
          <a:xfrm>
            <a:off x="1598138" y="2741382"/>
            <a:ext cx="903497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dirty="0"/>
              <a:t>#1 Age </a:t>
            </a:r>
            <a:r>
              <a:rPr lang="en-US" sz="2000" b="1" dirty="0"/>
              <a:t>21</a:t>
            </a:r>
            <a:r>
              <a:rPr lang="en-US" sz="2000" dirty="0"/>
              <a:t>                 #2 Age </a:t>
            </a:r>
            <a:r>
              <a:rPr lang="en-US" sz="2000" b="1" dirty="0"/>
              <a:t>64</a:t>
            </a:r>
            <a:r>
              <a:rPr lang="en-US" sz="2000" dirty="0"/>
              <a:t>                #3 Age </a:t>
            </a:r>
            <a:r>
              <a:rPr lang="en-US" sz="2000" b="1" dirty="0"/>
              <a:t>28</a:t>
            </a:r>
            <a:r>
              <a:rPr lang="en-US" sz="2000" dirty="0"/>
              <a:t>                #4 Age </a:t>
            </a:r>
            <a:r>
              <a:rPr lang="en-US" sz="2000" b="1" dirty="0"/>
              <a:t>14</a:t>
            </a:r>
            <a:r>
              <a:rPr lang="en-US" sz="2000" dirty="0"/>
              <a:t>               #5 Age </a:t>
            </a:r>
            <a:r>
              <a:rPr lang="en-US" sz="2000" b="1" dirty="0"/>
              <a:t>54</a:t>
            </a:r>
          </a:p>
        </p:txBody>
      </p:sp>
      <p:pic>
        <p:nvPicPr>
          <p:cNvPr id="6" name="Picture 2" descr="http://www.politicalappointeeproject.org/sites/default/files/Katherine_Archuleta_0.jp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65159" y="0"/>
            <a:ext cx="1958471" cy="2743200"/>
          </a:xfrm>
          <a:prstGeom prst="rect">
            <a:avLst/>
          </a:prstGeom>
          <a:noFill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" name="Picture 2" descr="http://assets.fox.com/shows/masterchef/photos/Bios---Season-5/elise_bio-1-bio-374x452.jpg"/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7127" r="5222" b="11391"/>
          <a:stretch/>
        </p:blipFill>
        <p:spPr bwMode="auto">
          <a:xfrm>
            <a:off x="5323630" y="0"/>
            <a:ext cx="1989123" cy="2743200"/>
          </a:xfrm>
          <a:prstGeom prst="rect">
            <a:avLst/>
          </a:prstGeom>
          <a:noFill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1" name="Picture 2" descr="https://fbcdn-sphotos-c-a.akamaihd.net/hphotos-ak-xpa1/t1.0-9/10447071_10202402956259619_4611738436486884027_n.jpg"/>
          <p:cNvPicPr>
            <a:picLocks noChangeAspect="1" noChangeArrowheads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0694" t="8866" r="9389" b="45922"/>
          <a:stretch/>
        </p:blipFill>
        <p:spPr bwMode="auto">
          <a:xfrm>
            <a:off x="7294604" y="0"/>
            <a:ext cx="1816445" cy="2743200"/>
          </a:xfrm>
          <a:prstGeom prst="rect">
            <a:avLst/>
          </a:prstGeom>
          <a:noFill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2" name="Picture 2" descr="Mystery: Rosemary McGinn, a 54-year-old realtor, acted drunk for nearly two years due to a tumor that was producing too much insulin, causing her blood sugar levels to drop and starving her brain of fuel"/>
          <p:cNvPicPr>
            <a:picLocks noChangeAspect="1" noChangeArrowheads="1"/>
          </p:cNvPicPr>
          <p:nvPr/>
        </p:nvPicPr>
        <p:blipFill rotWithShape="1"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545" r="37482" b="9824"/>
          <a:stretch/>
        </p:blipFill>
        <p:spPr bwMode="auto">
          <a:xfrm>
            <a:off x="9036909" y="0"/>
            <a:ext cx="1596207" cy="2743200"/>
          </a:xfrm>
          <a:prstGeom prst="rect">
            <a:avLst/>
          </a:prstGeom>
          <a:noFill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3" name="Picture 2" descr="http://www.gazettenet.com/csp/mediapool/sites/dt.common.streams.StreamServer.cls?STREAMOID=8$YaSEELCYtil7hvl9VzuM$daE2N3K4ZzOUsqbU5sYs7g5Crdt5ebC_xelTSDfARWCsjLu883Ygn4B49Lvm9bPe2QeMKQdVeZmXF$9l$4uCZ8QDXhaHEp3rvzXRJFdy0KqPHLoMevcTLo3h8xh70Y6N_U_CryOsw6FTOdKL_jpQ-&amp;CONTENTTYPE=image/jpeg"/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36357" y="4114800"/>
            <a:ext cx="1906524" cy="2743200"/>
          </a:xfrm>
          <a:prstGeom prst="rect">
            <a:avLst/>
          </a:prstGeom>
          <a:noFill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4" name="Picture 2" descr="https://scontent-b-ord.xx.fbcdn.net/hphotos-xap1/t1.0-9/1795619_10152306099923977_7262188604397784485_n.jpg"/>
          <p:cNvPicPr>
            <a:picLocks noChangeAspect="1" noChangeArrowheads="1"/>
          </p:cNvPicPr>
          <p:nvPr/>
        </p:nvPicPr>
        <p:blipFill rotWithShape="1"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5092" r="28404"/>
          <a:stretch/>
        </p:blipFill>
        <p:spPr bwMode="auto">
          <a:xfrm>
            <a:off x="3337700" y="4114800"/>
            <a:ext cx="2325063" cy="2743200"/>
          </a:xfrm>
          <a:prstGeom prst="rect">
            <a:avLst/>
          </a:prstGeom>
          <a:noFill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6" name="TextBox 15"/>
          <p:cNvSpPr txBox="1"/>
          <p:nvPr/>
        </p:nvSpPr>
        <p:spPr>
          <a:xfrm>
            <a:off x="1602254" y="3669199"/>
            <a:ext cx="903497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dirty="0"/>
              <a:t>#6 Age </a:t>
            </a:r>
            <a:r>
              <a:rPr lang="en-US" sz="2000" b="1" dirty="0"/>
              <a:t>74</a:t>
            </a:r>
            <a:r>
              <a:rPr lang="en-US" sz="2000" dirty="0"/>
              <a:t>                 #7 Age </a:t>
            </a:r>
            <a:r>
              <a:rPr lang="en-US" sz="2000" b="1" dirty="0"/>
              <a:t>44</a:t>
            </a:r>
            <a:r>
              <a:rPr lang="en-US" sz="2000" dirty="0"/>
              <a:t>                #8 Age </a:t>
            </a:r>
            <a:r>
              <a:rPr lang="en-US" sz="2000" b="1" dirty="0"/>
              <a:t>83</a:t>
            </a:r>
            <a:r>
              <a:rPr lang="en-US" sz="2000" dirty="0"/>
              <a:t>                #9 Age </a:t>
            </a:r>
            <a:r>
              <a:rPr lang="en-US" sz="2000" b="1" dirty="0"/>
              <a:t>24</a:t>
            </a:r>
            <a:r>
              <a:rPr lang="en-US" sz="2000" dirty="0"/>
              <a:t>              #10 Age </a:t>
            </a:r>
            <a:r>
              <a:rPr lang="en-US" sz="2000" b="1" dirty="0"/>
              <a:t>34</a:t>
            </a:r>
          </a:p>
        </p:txBody>
      </p:sp>
      <p:pic>
        <p:nvPicPr>
          <p:cNvPr id="17" name="Picture 2" descr="http://static2.stuff.co.nz/1334194607/613/6731613.jpg"/>
          <p:cNvPicPr>
            <a:picLocks noChangeAspect="1" noChangeArrowheads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911545" y="4114800"/>
            <a:ext cx="2280720" cy="2743200"/>
          </a:xfrm>
          <a:prstGeom prst="rect">
            <a:avLst/>
          </a:prstGeom>
          <a:noFill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5" name="Picture 4" descr="http://www.arteyvidachicago.com/wp-content/uploads/2013/09/Margo_Glantz.jpg"/>
          <p:cNvPicPr>
            <a:picLocks noChangeAspect="1" noChangeArrowheads="1"/>
          </p:cNvPicPr>
          <p:nvPr/>
        </p:nvPicPr>
        <p:blipFill rotWithShape="1"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6584" r="6318"/>
          <a:stretch/>
        </p:blipFill>
        <p:spPr bwMode="auto">
          <a:xfrm>
            <a:off x="5208368" y="4114800"/>
            <a:ext cx="1937957" cy="2743200"/>
          </a:xfrm>
          <a:prstGeom prst="rect">
            <a:avLst/>
          </a:prstGeom>
          <a:noFill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8" name="Picture 2" descr="http://www4.pictures.zimbio.com/gi/Bianca+Lawson+Riddick+Premieres+LA+Part+5+3K0OeeNcDdrl.jpg"/>
          <p:cNvPicPr>
            <a:picLocks noChangeAspect="1" noChangeArrowheads="1"/>
          </p:cNvPicPr>
          <p:nvPr/>
        </p:nvPicPr>
        <p:blipFill rotWithShape="1"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023" r="7539"/>
          <a:stretch/>
        </p:blipFill>
        <p:spPr bwMode="auto">
          <a:xfrm>
            <a:off x="8863912" y="4114800"/>
            <a:ext cx="1779374" cy="2743200"/>
          </a:xfrm>
          <a:prstGeom prst="rect">
            <a:avLst/>
          </a:prstGeom>
          <a:noFill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717C80BB-24DC-4E79-B5D9-FDAE94AD6F1F}"/>
              </a:ext>
            </a:extLst>
          </p:cNvPr>
          <p:cNvSpPr txBox="1"/>
          <p:nvPr/>
        </p:nvSpPr>
        <p:spPr>
          <a:xfrm>
            <a:off x="307670" y="2790478"/>
            <a:ext cx="1051891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Comic Sans MS" panose="030F0702030302020204" pitchFamily="66" charset="0"/>
              </a:rPr>
              <a:t>2022</a:t>
            </a:r>
            <a:br>
              <a:rPr lang="en-US" dirty="0">
                <a:latin typeface="Comic Sans MS" panose="030F0702030302020204" pitchFamily="66" charset="0"/>
              </a:rPr>
            </a:br>
            <a:r>
              <a:rPr lang="en-US" dirty="0">
                <a:latin typeface="Comic Sans MS" panose="030F0702030302020204" pitchFamily="66" charset="0"/>
              </a:rPr>
              <a:t>Mean</a:t>
            </a:r>
          </a:p>
          <a:p>
            <a:r>
              <a:rPr lang="en-US" dirty="0">
                <a:latin typeface="Comic Sans MS" panose="030F0702030302020204" pitchFamily="66" charset="0"/>
              </a:rPr>
              <a:t>Guesses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4F44AEEF-C613-4134-97BF-2040ED5767BE}"/>
              </a:ext>
            </a:extLst>
          </p:cNvPr>
          <p:cNvSpPr txBox="1"/>
          <p:nvPr/>
        </p:nvSpPr>
        <p:spPr>
          <a:xfrm>
            <a:off x="2263836" y="3017241"/>
            <a:ext cx="66556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0000FF"/>
                </a:solidFill>
                <a:latin typeface="Comic Sans MS" panose="030F0702030302020204" pitchFamily="66" charset="0"/>
              </a:rPr>
              <a:t>27.4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CCE1F4A8-1E57-481B-8870-5BC36840B496}"/>
              </a:ext>
            </a:extLst>
          </p:cNvPr>
          <p:cNvSpPr txBox="1"/>
          <p:nvPr/>
        </p:nvSpPr>
        <p:spPr>
          <a:xfrm>
            <a:off x="2248456" y="3426904"/>
            <a:ext cx="66556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  <a:latin typeface="Comic Sans MS" panose="030F0702030302020204" pitchFamily="66" charset="0"/>
              </a:rPr>
              <a:t>69.9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0CD1436C-DC49-4CDC-9321-AACDE4BC6A54}"/>
              </a:ext>
            </a:extLst>
          </p:cNvPr>
          <p:cNvSpPr txBox="1"/>
          <p:nvPr/>
        </p:nvSpPr>
        <p:spPr>
          <a:xfrm>
            <a:off x="4219871" y="3017241"/>
            <a:ext cx="66556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  <a:latin typeface="Comic Sans MS" panose="030F0702030302020204" pitchFamily="66" charset="0"/>
              </a:rPr>
              <a:t>54.3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C4D98619-449C-4A63-BAB4-14BC2EEC3A0D}"/>
              </a:ext>
            </a:extLst>
          </p:cNvPr>
          <p:cNvSpPr txBox="1"/>
          <p:nvPr/>
        </p:nvSpPr>
        <p:spPr>
          <a:xfrm>
            <a:off x="4204491" y="3426904"/>
            <a:ext cx="6286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0000FF"/>
                </a:solidFill>
                <a:latin typeface="Comic Sans MS" panose="030F0702030302020204" pitchFamily="66" charset="0"/>
              </a:rPr>
              <a:t>50.1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EB110440-98DC-46C9-A417-46E38040B5CE}"/>
              </a:ext>
            </a:extLst>
          </p:cNvPr>
          <p:cNvSpPr txBox="1"/>
          <p:nvPr/>
        </p:nvSpPr>
        <p:spPr>
          <a:xfrm>
            <a:off x="6217851" y="3017241"/>
            <a:ext cx="66556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0000FF"/>
                </a:solidFill>
                <a:latin typeface="Comic Sans MS" panose="030F0702030302020204" pitchFamily="66" charset="0"/>
              </a:rPr>
              <a:t>30.6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C0F7A089-AD0C-40D8-9B2A-8A833AECA036}"/>
              </a:ext>
            </a:extLst>
          </p:cNvPr>
          <p:cNvSpPr txBox="1"/>
          <p:nvPr/>
        </p:nvSpPr>
        <p:spPr>
          <a:xfrm>
            <a:off x="6202471" y="3426904"/>
            <a:ext cx="66556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  <a:latin typeface="Comic Sans MS" panose="030F0702030302020204" pitchFamily="66" charset="0"/>
              </a:rPr>
              <a:t>78.2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AC25B8D8-525C-47F8-8C0A-57B2147C011C}"/>
              </a:ext>
            </a:extLst>
          </p:cNvPr>
          <p:cNvSpPr txBox="1"/>
          <p:nvPr/>
        </p:nvSpPr>
        <p:spPr>
          <a:xfrm>
            <a:off x="8200244" y="3017241"/>
            <a:ext cx="6286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0000FF"/>
                </a:solidFill>
                <a:latin typeface="Comic Sans MS" panose="030F0702030302020204" pitchFamily="66" charset="0"/>
              </a:rPr>
              <a:t>16.3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BC82380E-C7B9-40CD-B876-2CB134D8B339}"/>
              </a:ext>
            </a:extLst>
          </p:cNvPr>
          <p:cNvSpPr txBox="1"/>
          <p:nvPr/>
        </p:nvSpPr>
        <p:spPr>
          <a:xfrm>
            <a:off x="8184864" y="3426904"/>
            <a:ext cx="66556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0000FF"/>
                </a:solidFill>
                <a:latin typeface="Comic Sans MS" panose="030F0702030302020204" pitchFamily="66" charset="0"/>
              </a:rPr>
              <a:t>34.6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E4F77C2C-B336-43A3-86C7-969F15D6D616}"/>
              </a:ext>
            </a:extLst>
          </p:cNvPr>
          <p:cNvSpPr txBox="1"/>
          <p:nvPr/>
        </p:nvSpPr>
        <p:spPr>
          <a:xfrm>
            <a:off x="10047222" y="3017241"/>
            <a:ext cx="66556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0000FF"/>
                </a:solidFill>
                <a:latin typeface="Comic Sans MS" panose="030F0702030302020204" pitchFamily="66" charset="0"/>
              </a:rPr>
              <a:t>62.4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EC0FEA0D-1599-4C3C-AEFE-2557486D40D3}"/>
              </a:ext>
            </a:extLst>
          </p:cNvPr>
          <p:cNvSpPr txBox="1"/>
          <p:nvPr/>
        </p:nvSpPr>
        <p:spPr>
          <a:xfrm>
            <a:off x="10031842" y="3426904"/>
            <a:ext cx="66556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  <a:latin typeface="Comic Sans MS" panose="030F0702030302020204" pitchFamily="66" charset="0"/>
              </a:rPr>
              <a:t>30.2</a:t>
            </a:r>
          </a:p>
        </p:txBody>
      </p:sp>
    </p:spTree>
    <p:extLst>
      <p:ext uri="{BB962C8B-B14F-4D97-AF65-F5344CB8AC3E}">
        <p14:creationId xmlns:p14="http://schemas.microsoft.com/office/powerpoint/2010/main" val="394722882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2" descr="http://www.ctvnews.ca/polopoly_fs/1.1797177!/httpImage/image.jpg_gen/derivatives/landscape_960/image.jpg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3829" r="28671"/>
          <a:stretch/>
        </p:blipFill>
        <p:spPr bwMode="auto">
          <a:xfrm>
            <a:off x="1536358" y="0"/>
            <a:ext cx="1828800" cy="2743200"/>
          </a:xfrm>
          <a:prstGeom prst="rect">
            <a:avLst/>
          </a:prstGeom>
          <a:noFill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TextBox 4"/>
          <p:cNvSpPr txBox="1"/>
          <p:nvPr/>
        </p:nvSpPr>
        <p:spPr>
          <a:xfrm>
            <a:off x="1598138" y="2741382"/>
            <a:ext cx="903497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dirty="0"/>
              <a:t>#1 Age </a:t>
            </a:r>
            <a:r>
              <a:rPr lang="en-US" sz="2000" b="1" dirty="0"/>
              <a:t>21</a:t>
            </a:r>
            <a:r>
              <a:rPr lang="en-US" sz="2000" dirty="0"/>
              <a:t>                 #2 Age </a:t>
            </a:r>
            <a:r>
              <a:rPr lang="en-US" sz="2000" b="1" dirty="0"/>
              <a:t>64</a:t>
            </a:r>
            <a:r>
              <a:rPr lang="en-US" sz="2000" dirty="0"/>
              <a:t>                #3 Age </a:t>
            </a:r>
            <a:r>
              <a:rPr lang="en-US" sz="2000" b="1" dirty="0"/>
              <a:t>28</a:t>
            </a:r>
            <a:r>
              <a:rPr lang="en-US" sz="2000" dirty="0"/>
              <a:t>                #4 Age </a:t>
            </a:r>
            <a:r>
              <a:rPr lang="en-US" sz="2000" b="1" dirty="0"/>
              <a:t>14</a:t>
            </a:r>
            <a:r>
              <a:rPr lang="en-US" sz="2000" dirty="0"/>
              <a:t>               #5 Age </a:t>
            </a:r>
            <a:r>
              <a:rPr lang="en-US" sz="2000" b="1" dirty="0"/>
              <a:t>54</a:t>
            </a:r>
          </a:p>
        </p:txBody>
      </p:sp>
      <p:pic>
        <p:nvPicPr>
          <p:cNvPr id="6" name="Picture 2" descr="http://www.politicalappointeeproject.org/sites/default/files/Katherine_Archuleta_0.jp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65159" y="0"/>
            <a:ext cx="1958471" cy="2743200"/>
          </a:xfrm>
          <a:prstGeom prst="rect">
            <a:avLst/>
          </a:prstGeom>
          <a:noFill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" name="Picture 2" descr="http://assets.fox.com/shows/masterchef/photos/Bios---Season-5/elise_bio-1-bio-374x452.jpg"/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7127" r="5222" b="11391"/>
          <a:stretch/>
        </p:blipFill>
        <p:spPr bwMode="auto">
          <a:xfrm>
            <a:off x="5323630" y="0"/>
            <a:ext cx="1989123" cy="2743200"/>
          </a:xfrm>
          <a:prstGeom prst="rect">
            <a:avLst/>
          </a:prstGeom>
          <a:noFill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1" name="Picture 2" descr="https://fbcdn-sphotos-c-a.akamaihd.net/hphotos-ak-xpa1/t1.0-9/10447071_10202402956259619_4611738436486884027_n.jpg"/>
          <p:cNvPicPr>
            <a:picLocks noChangeAspect="1" noChangeArrowheads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0694" t="8866" r="9389" b="45922"/>
          <a:stretch/>
        </p:blipFill>
        <p:spPr bwMode="auto">
          <a:xfrm>
            <a:off x="7294604" y="0"/>
            <a:ext cx="1816445" cy="2743200"/>
          </a:xfrm>
          <a:prstGeom prst="rect">
            <a:avLst/>
          </a:prstGeom>
          <a:noFill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2" name="Picture 2" descr="Mystery: Rosemary McGinn, a 54-year-old realtor, acted drunk for nearly two years due to a tumor that was producing too much insulin, causing her blood sugar levels to drop and starving her brain of fuel"/>
          <p:cNvPicPr>
            <a:picLocks noChangeAspect="1" noChangeArrowheads="1"/>
          </p:cNvPicPr>
          <p:nvPr/>
        </p:nvPicPr>
        <p:blipFill rotWithShape="1"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545" r="37482" b="9824"/>
          <a:stretch/>
        </p:blipFill>
        <p:spPr bwMode="auto">
          <a:xfrm>
            <a:off x="9036909" y="0"/>
            <a:ext cx="1596207" cy="2743200"/>
          </a:xfrm>
          <a:prstGeom prst="rect">
            <a:avLst/>
          </a:prstGeom>
          <a:noFill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717C80BB-24DC-4E79-B5D9-FDAE94AD6F1F}"/>
              </a:ext>
            </a:extLst>
          </p:cNvPr>
          <p:cNvSpPr txBox="1"/>
          <p:nvPr/>
        </p:nvSpPr>
        <p:spPr>
          <a:xfrm>
            <a:off x="247284" y="3429000"/>
            <a:ext cx="1051891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Comic Sans MS" panose="030F0702030302020204" pitchFamily="66" charset="0"/>
              </a:rPr>
              <a:t>2022</a:t>
            </a:r>
          </a:p>
          <a:p>
            <a:r>
              <a:rPr lang="en-US" dirty="0">
                <a:latin typeface="Comic Sans MS" panose="030F0702030302020204" pitchFamily="66" charset="0"/>
              </a:rPr>
              <a:t>Group</a:t>
            </a:r>
            <a:br>
              <a:rPr lang="en-US" dirty="0">
                <a:latin typeface="Comic Sans MS" panose="030F0702030302020204" pitchFamily="66" charset="0"/>
              </a:rPr>
            </a:br>
            <a:r>
              <a:rPr lang="en-US" dirty="0">
                <a:latin typeface="Comic Sans MS" panose="030F0702030302020204" pitchFamily="66" charset="0"/>
              </a:rPr>
              <a:t>Guesses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43E77B4-A5D0-0338-894A-4F9CB2DE2EC9}"/>
              </a:ext>
            </a:extLst>
          </p:cNvPr>
          <p:cNvSpPr txBox="1"/>
          <p:nvPr/>
        </p:nvSpPr>
        <p:spPr>
          <a:xfrm>
            <a:off x="1536358" y="3255519"/>
            <a:ext cx="1577676" cy="147732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Consolas" panose="020B0609020204030204" pitchFamily="49" charset="0"/>
              </a:rPr>
              <a:t>2 | 2446789</a:t>
            </a:r>
          </a:p>
          <a:p>
            <a:r>
              <a:rPr lang="en-US" dirty="0">
                <a:latin typeface="Consolas" panose="020B0609020204030204" pitchFamily="49" charset="0"/>
              </a:rPr>
              <a:t>3 | 25</a:t>
            </a:r>
          </a:p>
          <a:p>
            <a:endParaRPr lang="en-US" dirty="0"/>
          </a:p>
          <a:p>
            <a:endParaRPr lang="en-US" dirty="0"/>
          </a:p>
          <a:p>
            <a:pPr algn="ctr"/>
            <a:r>
              <a:rPr lang="en-US" dirty="0">
                <a:solidFill>
                  <a:srgbClr val="0000FF"/>
                </a:solidFill>
              </a:rPr>
              <a:t>Mean: 27.4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0346811-7BEC-0B7F-54A2-A7FBA77C3176}"/>
              </a:ext>
            </a:extLst>
          </p:cNvPr>
          <p:cNvSpPr txBox="1"/>
          <p:nvPr/>
        </p:nvSpPr>
        <p:spPr>
          <a:xfrm>
            <a:off x="3621075" y="3255519"/>
            <a:ext cx="1324402" cy="147732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Consolas" panose="020B0609020204030204" pitchFamily="49" charset="0"/>
              </a:rPr>
              <a:t>4 | 88</a:t>
            </a:r>
          </a:p>
          <a:p>
            <a:r>
              <a:rPr lang="en-US" dirty="0">
                <a:latin typeface="Consolas" panose="020B0609020204030204" pitchFamily="49" charset="0"/>
              </a:rPr>
              <a:t>5 | 03368</a:t>
            </a:r>
          </a:p>
          <a:p>
            <a:r>
              <a:rPr lang="en-US" dirty="0">
                <a:latin typeface="Consolas" panose="020B0609020204030204" pitchFamily="49" charset="0"/>
              </a:rPr>
              <a:t>6 | 03</a:t>
            </a:r>
          </a:p>
          <a:p>
            <a:pPr algn="ctr"/>
            <a:endParaRPr lang="en-US" dirty="0">
              <a:solidFill>
                <a:srgbClr val="0000FF"/>
              </a:solidFill>
            </a:endParaRPr>
          </a:p>
          <a:p>
            <a:pPr algn="ctr"/>
            <a:r>
              <a:rPr lang="en-US" dirty="0">
                <a:solidFill>
                  <a:srgbClr val="FF0000"/>
                </a:solidFill>
              </a:rPr>
              <a:t>Mean: 54.3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48FB4716-7D03-D42D-D74F-9FFB41F373A6}"/>
              </a:ext>
            </a:extLst>
          </p:cNvPr>
          <p:cNvSpPr txBox="1"/>
          <p:nvPr/>
        </p:nvSpPr>
        <p:spPr>
          <a:xfrm>
            <a:off x="5487929" y="3255519"/>
            <a:ext cx="1451038" cy="147732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Consolas" panose="020B0609020204030204" pitchFamily="49" charset="0"/>
              </a:rPr>
              <a:t>2 | 779</a:t>
            </a:r>
          </a:p>
          <a:p>
            <a:r>
              <a:rPr lang="en-US" dirty="0">
                <a:latin typeface="Consolas" panose="020B0609020204030204" pitchFamily="49" charset="0"/>
              </a:rPr>
              <a:t>3 | 012234</a:t>
            </a:r>
          </a:p>
          <a:p>
            <a:pPr algn="ctr"/>
            <a:endParaRPr lang="en-US" dirty="0">
              <a:solidFill>
                <a:srgbClr val="0000FF"/>
              </a:solidFill>
            </a:endParaRPr>
          </a:p>
          <a:p>
            <a:pPr algn="ctr"/>
            <a:endParaRPr lang="en-US" dirty="0">
              <a:solidFill>
                <a:srgbClr val="0000FF"/>
              </a:solidFill>
            </a:endParaRPr>
          </a:p>
          <a:p>
            <a:pPr algn="ctr"/>
            <a:r>
              <a:rPr lang="en-US" dirty="0">
                <a:solidFill>
                  <a:srgbClr val="0000FF"/>
                </a:solidFill>
              </a:rPr>
              <a:t>Mean: 30.6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FC84EDF1-798F-1964-0C2D-44ED9EA3388B}"/>
              </a:ext>
            </a:extLst>
          </p:cNvPr>
          <p:cNvSpPr txBox="1"/>
          <p:nvPr/>
        </p:nvSpPr>
        <p:spPr>
          <a:xfrm>
            <a:off x="7382866" y="3255519"/>
            <a:ext cx="1704313" cy="147732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Consolas" panose="020B0609020204030204" pitchFamily="49" charset="0"/>
              </a:rPr>
              <a:t>1 | </a:t>
            </a:r>
            <a:r>
              <a:rPr lang="en-US" dirty="0">
                <a:highlight>
                  <a:srgbClr val="FFFF00"/>
                </a:highlight>
                <a:latin typeface="Consolas" panose="020B0609020204030204" pitchFamily="49" charset="0"/>
              </a:rPr>
              <a:t>444</a:t>
            </a:r>
            <a:r>
              <a:rPr lang="en-US" dirty="0">
                <a:latin typeface="Consolas" panose="020B0609020204030204" pitchFamily="49" charset="0"/>
              </a:rPr>
              <a:t>55678</a:t>
            </a:r>
          </a:p>
          <a:p>
            <a:r>
              <a:rPr lang="en-US" dirty="0">
                <a:latin typeface="Consolas" panose="020B0609020204030204" pitchFamily="49" charset="0"/>
              </a:rPr>
              <a:t>2 | 4</a:t>
            </a:r>
          </a:p>
          <a:p>
            <a:pPr algn="ctr"/>
            <a:endParaRPr lang="en-US" dirty="0">
              <a:solidFill>
                <a:srgbClr val="0000FF"/>
              </a:solidFill>
            </a:endParaRPr>
          </a:p>
          <a:p>
            <a:pPr algn="ctr"/>
            <a:endParaRPr lang="en-US" dirty="0">
              <a:solidFill>
                <a:srgbClr val="0000FF"/>
              </a:solidFill>
            </a:endParaRPr>
          </a:p>
          <a:p>
            <a:pPr algn="ctr"/>
            <a:r>
              <a:rPr lang="en-US" dirty="0">
                <a:solidFill>
                  <a:srgbClr val="0000FF"/>
                </a:solidFill>
              </a:rPr>
              <a:t>Mean: 16.3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CE66B96B-F91A-6821-01E0-7DD881D405D2}"/>
              </a:ext>
            </a:extLst>
          </p:cNvPr>
          <p:cNvSpPr txBox="1"/>
          <p:nvPr/>
        </p:nvSpPr>
        <p:spPr>
          <a:xfrm>
            <a:off x="9415150" y="3255519"/>
            <a:ext cx="1324402" cy="147732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Consolas" panose="020B0609020204030204" pitchFamily="49" charset="0"/>
              </a:rPr>
              <a:t>5 | 08</a:t>
            </a:r>
          </a:p>
          <a:p>
            <a:r>
              <a:rPr lang="en-US" dirty="0">
                <a:latin typeface="Consolas" panose="020B0609020204030204" pitchFamily="49" charset="0"/>
              </a:rPr>
              <a:t>6 | 02255</a:t>
            </a:r>
          </a:p>
          <a:p>
            <a:r>
              <a:rPr lang="en-US" dirty="0">
                <a:latin typeface="Consolas" panose="020B0609020204030204" pitchFamily="49" charset="0"/>
              </a:rPr>
              <a:t>7 | 00</a:t>
            </a:r>
          </a:p>
          <a:p>
            <a:pPr algn="ctr"/>
            <a:endParaRPr lang="en-US" dirty="0">
              <a:solidFill>
                <a:srgbClr val="0000FF"/>
              </a:solidFill>
            </a:endParaRPr>
          </a:p>
          <a:p>
            <a:pPr algn="ctr"/>
            <a:r>
              <a:rPr lang="en-US" dirty="0">
                <a:solidFill>
                  <a:srgbClr val="0000FF"/>
                </a:solidFill>
              </a:rPr>
              <a:t>Mean: 62.4</a:t>
            </a:r>
          </a:p>
        </p:txBody>
      </p:sp>
    </p:spTree>
    <p:extLst>
      <p:ext uri="{BB962C8B-B14F-4D97-AF65-F5344CB8AC3E}">
        <p14:creationId xmlns:p14="http://schemas.microsoft.com/office/powerpoint/2010/main" val="10908510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717C80BB-24DC-4E79-B5D9-FDAE94AD6F1F}"/>
              </a:ext>
            </a:extLst>
          </p:cNvPr>
          <p:cNvSpPr txBox="1"/>
          <p:nvPr/>
        </p:nvSpPr>
        <p:spPr>
          <a:xfrm>
            <a:off x="247284" y="3429000"/>
            <a:ext cx="1051891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Comic Sans MS" panose="030F0702030302020204" pitchFamily="66" charset="0"/>
              </a:rPr>
              <a:t>2022</a:t>
            </a:r>
          </a:p>
          <a:p>
            <a:r>
              <a:rPr lang="en-US" dirty="0">
                <a:latin typeface="Comic Sans MS" panose="030F0702030302020204" pitchFamily="66" charset="0"/>
              </a:rPr>
              <a:t>Group</a:t>
            </a:r>
            <a:br>
              <a:rPr lang="en-US" dirty="0">
                <a:latin typeface="Comic Sans MS" panose="030F0702030302020204" pitchFamily="66" charset="0"/>
              </a:rPr>
            </a:br>
            <a:r>
              <a:rPr lang="en-US" dirty="0">
                <a:latin typeface="Comic Sans MS" panose="030F0702030302020204" pitchFamily="66" charset="0"/>
              </a:rPr>
              <a:t>Guesses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43E77B4-A5D0-0338-894A-4F9CB2DE2EC9}"/>
              </a:ext>
            </a:extLst>
          </p:cNvPr>
          <p:cNvSpPr txBox="1"/>
          <p:nvPr/>
        </p:nvSpPr>
        <p:spPr>
          <a:xfrm>
            <a:off x="1602254" y="3255519"/>
            <a:ext cx="1358834" cy="147732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Consolas" panose="020B0609020204030204" pitchFamily="49" charset="0"/>
              </a:rPr>
              <a:t>6 | 4458</a:t>
            </a:r>
          </a:p>
          <a:p>
            <a:r>
              <a:rPr lang="en-US" dirty="0">
                <a:latin typeface="Consolas" panose="020B0609020204030204" pitchFamily="49" charset="0"/>
              </a:rPr>
              <a:t>7 | 03555</a:t>
            </a:r>
          </a:p>
          <a:p>
            <a:endParaRPr lang="en-US" dirty="0"/>
          </a:p>
          <a:p>
            <a:endParaRPr lang="en-US" dirty="0"/>
          </a:p>
          <a:p>
            <a:pPr algn="ctr"/>
            <a:r>
              <a:rPr lang="en-US" dirty="0">
                <a:solidFill>
                  <a:srgbClr val="FF0000"/>
                </a:solidFill>
              </a:rPr>
              <a:t>Mean: 69.9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0346811-7BEC-0B7F-54A2-A7FBA77C3176}"/>
              </a:ext>
            </a:extLst>
          </p:cNvPr>
          <p:cNvSpPr txBox="1"/>
          <p:nvPr/>
        </p:nvSpPr>
        <p:spPr>
          <a:xfrm>
            <a:off x="3621075" y="3255519"/>
            <a:ext cx="1345240" cy="147732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Consolas" panose="020B0609020204030204" pitchFamily="49" charset="0"/>
              </a:rPr>
              <a:t>4 | </a:t>
            </a:r>
            <a:r>
              <a:rPr lang="en-US" dirty="0">
                <a:highlight>
                  <a:srgbClr val="FFFF00"/>
                </a:highlight>
                <a:latin typeface="Consolas" panose="020B0609020204030204" pitchFamily="49" charset="0"/>
              </a:rPr>
              <a:t>4</a:t>
            </a:r>
            <a:r>
              <a:rPr lang="en-US" dirty="0">
                <a:latin typeface="Consolas" panose="020B0609020204030204" pitchFamily="49" charset="0"/>
              </a:rPr>
              <a:t>5588</a:t>
            </a:r>
          </a:p>
          <a:p>
            <a:r>
              <a:rPr lang="en-US" dirty="0">
                <a:latin typeface="Consolas" panose="020B0609020204030204" pitchFamily="49" charset="0"/>
              </a:rPr>
              <a:t>5 | 003</a:t>
            </a:r>
          </a:p>
          <a:p>
            <a:r>
              <a:rPr lang="en-US" dirty="0">
                <a:latin typeface="Consolas" panose="020B0609020204030204" pitchFamily="49" charset="0"/>
              </a:rPr>
              <a:t>6 | 8</a:t>
            </a:r>
          </a:p>
          <a:p>
            <a:pPr algn="ctr"/>
            <a:endParaRPr lang="en-US" dirty="0">
              <a:solidFill>
                <a:srgbClr val="0000FF"/>
              </a:solidFill>
            </a:endParaRPr>
          </a:p>
          <a:p>
            <a:pPr algn="ctr"/>
            <a:r>
              <a:rPr lang="en-US" dirty="0">
                <a:solidFill>
                  <a:srgbClr val="0000FF"/>
                </a:solidFill>
              </a:rPr>
              <a:t>Mean: 50.1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48FB4716-7D03-D42D-D74F-9FFB41F373A6}"/>
              </a:ext>
            </a:extLst>
          </p:cNvPr>
          <p:cNvSpPr txBox="1"/>
          <p:nvPr/>
        </p:nvSpPr>
        <p:spPr>
          <a:xfrm>
            <a:off x="5487929" y="3255519"/>
            <a:ext cx="1358834" cy="147732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Consolas" panose="020B0609020204030204" pitchFamily="49" charset="0"/>
              </a:rPr>
              <a:t>7 | 2369</a:t>
            </a:r>
          </a:p>
          <a:p>
            <a:r>
              <a:rPr lang="en-US" dirty="0">
                <a:latin typeface="Consolas" panose="020B0609020204030204" pitchFamily="49" charset="0"/>
              </a:rPr>
              <a:t>8 | 00112</a:t>
            </a:r>
          </a:p>
          <a:p>
            <a:pPr algn="ctr"/>
            <a:endParaRPr lang="en-US" dirty="0">
              <a:solidFill>
                <a:srgbClr val="0000FF"/>
              </a:solidFill>
            </a:endParaRPr>
          </a:p>
          <a:p>
            <a:pPr algn="ctr"/>
            <a:endParaRPr lang="en-US" dirty="0">
              <a:solidFill>
                <a:srgbClr val="0000FF"/>
              </a:solidFill>
            </a:endParaRPr>
          </a:p>
          <a:p>
            <a:pPr algn="ctr"/>
            <a:r>
              <a:rPr lang="en-US" dirty="0">
                <a:solidFill>
                  <a:srgbClr val="FF0000"/>
                </a:solidFill>
              </a:rPr>
              <a:t>Mean: 78.2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FC84EDF1-798F-1964-0C2D-44ED9EA3388B}"/>
              </a:ext>
            </a:extLst>
          </p:cNvPr>
          <p:cNvSpPr txBox="1"/>
          <p:nvPr/>
        </p:nvSpPr>
        <p:spPr>
          <a:xfrm>
            <a:off x="7382866" y="3255519"/>
            <a:ext cx="1704313" cy="147732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Consolas" panose="020B0609020204030204" pitchFamily="49" charset="0"/>
              </a:rPr>
              <a:t>2 | 9</a:t>
            </a:r>
          </a:p>
          <a:p>
            <a:r>
              <a:rPr lang="en-US" dirty="0">
                <a:latin typeface="Consolas" panose="020B0609020204030204" pitchFamily="49" charset="0"/>
              </a:rPr>
              <a:t>3 | 34555677</a:t>
            </a:r>
          </a:p>
          <a:p>
            <a:pPr algn="ctr"/>
            <a:endParaRPr lang="en-US" dirty="0">
              <a:solidFill>
                <a:srgbClr val="0000FF"/>
              </a:solidFill>
            </a:endParaRPr>
          </a:p>
          <a:p>
            <a:pPr algn="ctr"/>
            <a:endParaRPr lang="en-US" dirty="0">
              <a:solidFill>
                <a:srgbClr val="0000FF"/>
              </a:solidFill>
            </a:endParaRPr>
          </a:p>
          <a:p>
            <a:pPr algn="ctr"/>
            <a:r>
              <a:rPr lang="en-US" dirty="0">
                <a:solidFill>
                  <a:srgbClr val="0000FF"/>
                </a:solidFill>
              </a:rPr>
              <a:t>Mean: 34.6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CE66B96B-F91A-6821-01E0-7DD881D405D2}"/>
              </a:ext>
            </a:extLst>
          </p:cNvPr>
          <p:cNvSpPr txBox="1"/>
          <p:nvPr/>
        </p:nvSpPr>
        <p:spPr>
          <a:xfrm>
            <a:off x="9415150" y="3255519"/>
            <a:ext cx="1324402" cy="147732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Consolas" panose="020B0609020204030204" pitchFamily="49" charset="0"/>
              </a:rPr>
              <a:t>2 | 2489</a:t>
            </a:r>
          </a:p>
          <a:p>
            <a:r>
              <a:rPr lang="en-US" dirty="0">
                <a:latin typeface="Consolas" panose="020B0609020204030204" pitchFamily="49" charset="0"/>
              </a:rPr>
              <a:t>3 | 0115</a:t>
            </a:r>
          </a:p>
          <a:p>
            <a:r>
              <a:rPr lang="en-US" dirty="0">
                <a:latin typeface="Consolas" panose="020B0609020204030204" pitchFamily="49" charset="0"/>
              </a:rPr>
              <a:t>4 | 2</a:t>
            </a:r>
          </a:p>
          <a:p>
            <a:pPr algn="ctr"/>
            <a:endParaRPr lang="en-US" dirty="0">
              <a:solidFill>
                <a:srgbClr val="0000FF"/>
              </a:solidFill>
            </a:endParaRPr>
          </a:p>
          <a:p>
            <a:pPr algn="ctr"/>
            <a:r>
              <a:rPr lang="en-US" dirty="0">
                <a:solidFill>
                  <a:srgbClr val="FF0000"/>
                </a:solidFill>
              </a:rPr>
              <a:t>Mean: 30.2</a:t>
            </a:r>
          </a:p>
        </p:txBody>
      </p:sp>
      <p:pic>
        <p:nvPicPr>
          <p:cNvPr id="13" name="Picture 2" descr="http://www.gazettenet.com/csp/mediapool/sites/dt.common.streams.StreamServer.cls?STREAMOID=8$YaSEELCYtil7hvl9VzuM$daE2N3K4ZzOUsqbU5sYs7g5Crdt5ebC_xelTSDfARWCsjLu883Ygn4B49Lvm9bPe2QeMKQdVeZmXF$9l$4uCZ8QDXhaHEp3rvzXRJFdy0KqPHLoMevcTLo3h8xh70Y6N_U_CryOsw6FTOdKL_jpQ-&amp;CONTENTTYPE=image/jpeg">
            <a:extLst>
              <a:ext uri="{FF2B5EF4-FFF2-40B4-BE49-F238E27FC236}">
                <a16:creationId xmlns:a16="http://schemas.microsoft.com/office/drawing/2014/main" id="{B608B9F3-72F1-8511-EB66-792FEB61186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48714" y="8642"/>
            <a:ext cx="1906524" cy="2743200"/>
          </a:xfrm>
          <a:prstGeom prst="rect">
            <a:avLst/>
          </a:prstGeom>
          <a:noFill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4" name="Picture 2" descr="https://scontent-b-ord.xx.fbcdn.net/hphotos-xap1/t1.0-9/1795619_10152306099923977_7262188604397784485_n.jpg">
            <a:extLst>
              <a:ext uri="{FF2B5EF4-FFF2-40B4-BE49-F238E27FC236}">
                <a16:creationId xmlns:a16="http://schemas.microsoft.com/office/drawing/2014/main" id="{A4A95FF4-91DE-CD9D-644B-FA86BDE061E1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5092" r="28404"/>
          <a:stretch/>
        </p:blipFill>
        <p:spPr bwMode="auto">
          <a:xfrm>
            <a:off x="3337700" y="8642"/>
            <a:ext cx="2325063" cy="2743200"/>
          </a:xfrm>
          <a:prstGeom prst="rect">
            <a:avLst/>
          </a:prstGeom>
          <a:noFill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238DCF82-D554-946B-520E-2202A5B91D10}"/>
              </a:ext>
            </a:extLst>
          </p:cNvPr>
          <p:cNvSpPr txBox="1"/>
          <p:nvPr/>
        </p:nvSpPr>
        <p:spPr>
          <a:xfrm>
            <a:off x="1602254" y="2763433"/>
            <a:ext cx="903497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dirty="0"/>
              <a:t>#6 Age </a:t>
            </a:r>
            <a:r>
              <a:rPr lang="en-US" sz="2000" b="1" dirty="0"/>
              <a:t>74</a:t>
            </a:r>
            <a:r>
              <a:rPr lang="en-US" sz="2000" dirty="0"/>
              <a:t>                 #7 Age </a:t>
            </a:r>
            <a:r>
              <a:rPr lang="en-US" sz="2000" b="1" dirty="0"/>
              <a:t>44</a:t>
            </a:r>
            <a:r>
              <a:rPr lang="en-US" sz="2000" dirty="0"/>
              <a:t>                #8 Age </a:t>
            </a:r>
            <a:r>
              <a:rPr lang="en-US" sz="2000" b="1" dirty="0"/>
              <a:t>83</a:t>
            </a:r>
            <a:r>
              <a:rPr lang="en-US" sz="2000" dirty="0"/>
              <a:t>                #9 Age </a:t>
            </a:r>
            <a:r>
              <a:rPr lang="en-US" sz="2000" b="1" dirty="0"/>
              <a:t>24</a:t>
            </a:r>
            <a:r>
              <a:rPr lang="en-US" sz="2000" dirty="0"/>
              <a:t>              #10 Age </a:t>
            </a:r>
            <a:r>
              <a:rPr lang="en-US" sz="2000" b="1" dirty="0"/>
              <a:t>34</a:t>
            </a:r>
          </a:p>
        </p:txBody>
      </p:sp>
      <p:pic>
        <p:nvPicPr>
          <p:cNvPr id="16" name="Picture 2" descr="http://static2.stuff.co.nz/1334194607/613/6731613.jpg">
            <a:extLst>
              <a:ext uri="{FF2B5EF4-FFF2-40B4-BE49-F238E27FC236}">
                <a16:creationId xmlns:a16="http://schemas.microsoft.com/office/drawing/2014/main" id="{11FEE3A6-59D7-E326-D112-972BFA9B327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911545" y="8642"/>
            <a:ext cx="2280720" cy="2743200"/>
          </a:xfrm>
          <a:prstGeom prst="rect">
            <a:avLst/>
          </a:prstGeom>
          <a:noFill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7" name="Picture 4" descr="http://www.arteyvidachicago.com/wp-content/uploads/2013/09/Margo_Glantz.jpg">
            <a:extLst>
              <a:ext uri="{FF2B5EF4-FFF2-40B4-BE49-F238E27FC236}">
                <a16:creationId xmlns:a16="http://schemas.microsoft.com/office/drawing/2014/main" id="{580BB346-388B-428A-8B5E-BB783DBC0092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6584" r="6318"/>
          <a:stretch/>
        </p:blipFill>
        <p:spPr bwMode="auto">
          <a:xfrm>
            <a:off x="5208368" y="8642"/>
            <a:ext cx="1937957" cy="2743200"/>
          </a:xfrm>
          <a:prstGeom prst="rect">
            <a:avLst/>
          </a:prstGeom>
          <a:noFill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8" name="Picture 2" descr="http://www4.pictures.zimbio.com/gi/Bianca+Lawson+Riddick+Premieres+LA+Part+5+3K0OeeNcDdrl.jpg">
            <a:extLst>
              <a:ext uri="{FF2B5EF4-FFF2-40B4-BE49-F238E27FC236}">
                <a16:creationId xmlns:a16="http://schemas.microsoft.com/office/drawing/2014/main" id="{9B2C7D8A-7E71-F52E-2A2D-8EEAEC7AC233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023" r="7539"/>
          <a:stretch/>
        </p:blipFill>
        <p:spPr bwMode="auto">
          <a:xfrm>
            <a:off x="9087179" y="20233"/>
            <a:ext cx="1779374" cy="2743200"/>
          </a:xfrm>
          <a:prstGeom prst="rect">
            <a:avLst/>
          </a:prstGeom>
          <a:noFill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27364603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2" descr="http://www.ctvnews.ca/polopoly_fs/1.1797177!/httpImage/image.jpg_gen/derivatives/landscape_960/image.jpg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3829" r="28671"/>
          <a:stretch/>
        </p:blipFill>
        <p:spPr bwMode="auto">
          <a:xfrm>
            <a:off x="1536358" y="0"/>
            <a:ext cx="1828800" cy="2743200"/>
          </a:xfrm>
          <a:prstGeom prst="rect">
            <a:avLst/>
          </a:prstGeom>
          <a:noFill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TextBox 4"/>
          <p:cNvSpPr txBox="1"/>
          <p:nvPr/>
        </p:nvSpPr>
        <p:spPr>
          <a:xfrm>
            <a:off x="1598138" y="2741382"/>
            <a:ext cx="903497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dirty="0"/>
              <a:t>#1 Age </a:t>
            </a:r>
            <a:r>
              <a:rPr lang="en-US" sz="2000" b="1" dirty="0"/>
              <a:t>21</a:t>
            </a:r>
            <a:r>
              <a:rPr lang="en-US" sz="2000" dirty="0"/>
              <a:t>                 #2 Age </a:t>
            </a:r>
            <a:r>
              <a:rPr lang="en-US" sz="2000" b="1" dirty="0"/>
              <a:t>64</a:t>
            </a:r>
            <a:r>
              <a:rPr lang="en-US" sz="2000" dirty="0"/>
              <a:t>                #3 Age </a:t>
            </a:r>
            <a:r>
              <a:rPr lang="en-US" sz="2000" b="1" dirty="0"/>
              <a:t>28</a:t>
            </a:r>
            <a:r>
              <a:rPr lang="en-US" sz="2000" dirty="0"/>
              <a:t>                #4 Age </a:t>
            </a:r>
            <a:r>
              <a:rPr lang="en-US" sz="2000" b="1" dirty="0"/>
              <a:t>14</a:t>
            </a:r>
            <a:r>
              <a:rPr lang="en-US" sz="2000" dirty="0"/>
              <a:t>               #5 Age </a:t>
            </a:r>
            <a:r>
              <a:rPr lang="en-US" sz="2000" b="1" dirty="0"/>
              <a:t>54</a:t>
            </a:r>
          </a:p>
        </p:txBody>
      </p:sp>
      <p:pic>
        <p:nvPicPr>
          <p:cNvPr id="6" name="Picture 2" descr="http://www.politicalappointeeproject.org/sites/default/files/Katherine_Archuleta_0.jp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65159" y="0"/>
            <a:ext cx="1958471" cy="2743200"/>
          </a:xfrm>
          <a:prstGeom prst="rect">
            <a:avLst/>
          </a:prstGeom>
          <a:noFill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" name="Picture 2" descr="http://assets.fox.com/shows/masterchef/photos/Bios---Season-5/elise_bio-1-bio-374x452.jpg"/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7127" r="5222" b="11391"/>
          <a:stretch/>
        </p:blipFill>
        <p:spPr bwMode="auto">
          <a:xfrm>
            <a:off x="5323630" y="0"/>
            <a:ext cx="1989123" cy="2743200"/>
          </a:xfrm>
          <a:prstGeom prst="rect">
            <a:avLst/>
          </a:prstGeom>
          <a:noFill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1" name="Picture 2" descr="https://fbcdn-sphotos-c-a.akamaihd.net/hphotos-ak-xpa1/t1.0-9/10447071_10202402956259619_4611738436486884027_n.jpg"/>
          <p:cNvPicPr>
            <a:picLocks noChangeAspect="1" noChangeArrowheads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0694" t="8866" r="9389" b="45922"/>
          <a:stretch/>
        </p:blipFill>
        <p:spPr bwMode="auto">
          <a:xfrm>
            <a:off x="7294604" y="0"/>
            <a:ext cx="1816445" cy="2743200"/>
          </a:xfrm>
          <a:prstGeom prst="rect">
            <a:avLst/>
          </a:prstGeom>
          <a:noFill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2" name="Picture 2" descr="Mystery: Rosemary McGinn, a 54-year-old realtor, acted drunk for nearly two years due to a tumor that was producing too much insulin, causing her blood sugar levels to drop and starving her brain of fuel"/>
          <p:cNvPicPr>
            <a:picLocks noChangeAspect="1" noChangeArrowheads="1"/>
          </p:cNvPicPr>
          <p:nvPr/>
        </p:nvPicPr>
        <p:blipFill rotWithShape="1"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545" r="37482" b="9824"/>
          <a:stretch/>
        </p:blipFill>
        <p:spPr bwMode="auto">
          <a:xfrm>
            <a:off x="9036909" y="0"/>
            <a:ext cx="1596207" cy="2743200"/>
          </a:xfrm>
          <a:prstGeom prst="rect">
            <a:avLst/>
          </a:prstGeom>
          <a:noFill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717C80BB-24DC-4E79-B5D9-FDAE94AD6F1F}"/>
              </a:ext>
            </a:extLst>
          </p:cNvPr>
          <p:cNvSpPr txBox="1"/>
          <p:nvPr/>
        </p:nvSpPr>
        <p:spPr>
          <a:xfrm>
            <a:off x="247284" y="3429000"/>
            <a:ext cx="1051891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Comic Sans MS" panose="030F0702030302020204" pitchFamily="66" charset="0"/>
              </a:rPr>
              <a:t>2023</a:t>
            </a:r>
          </a:p>
          <a:p>
            <a:r>
              <a:rPr lang="en-US" dirty="0">
                <a:latin typeface="Comic Sans MS" panose="030F0702030302020204" pitchFamily="66" charset="0"/>
              </a:rPr>
              <a:t>Group</a:t>
            </a:r>
            <a:br>
              <a:rPr lang="en-US" dirty="0">
                <a:latin typeface="Comic Sans MS" panose="030F0702030302020204" pitchFamily="66" charset="0"/>
              </a:rPr>
            </a:br>
            <a:r>
              <a:rPr lang="en-US" dirty="0">
                <a:latin typeface="Comic Sans MS" panose="030F0702030302020204" pitchFamily="66" charset="0"/>
              </a:rPr>
              <a:t>Guesses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43E77B4-A5D0-0338-894A-4F9CB2DE2EC9}"/>
              </a:ext>
            </a:extLst>
          </p:cNvPr>
          <p:cNvSpPr txBox="1"/>
          <p:nvPr/>
        </p:nvSpPr>
        <p:spPr>
          <a:xfrm>
            <a:off x="1536358" y="3255519"/>
            <a:ext cx="1577676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Consolas" panose="020B0609020204030204" pitchFamily="49" charset="0"/>
              </a:rPr>
              <a:t>2 | 5556789</a:t>
            </a:r>
          </a:p>
          <a:p>
            <a:r>
              <a:rPr lang="en-US" dirty="0">
                <a:latin typeface="Consolas" panose="020B0609020204030204" pitchFamily="49" charset="0"/>
              </a:rPr>
              <a:t>3 | 33</a:t>
            </a:r>
          </a:p>
          <a:p>
            <a:endParaRPr lang="en-US" dirty="0"/>
          </a:p>
          <a:p>
            <a:pPr algn="ctr"/>
            <a:r>
              <a:rPr lang="en-US" dirty="0">
                <a:solidFill>
                  <a:srgbClr val="0000FF"/>
                </a:solidFill>
              </a:rPr>
              <a:t>Mean: 27.9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0346811-7BEC-0B7F-54A2-A7FBA77C3176}"/>
              </a:ext>
            </a:extLst>
          </p:cNvPr>
          <p:cNvSpPr txBox="1"/>
          <p:nvPr/>
        </p:nvSpPr>
        <p:spPr>
          <a:xfrm>
            <a:off x="3621075" y="3255519"/>
            <a:ext cx="1704313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Consolas" panose="020B0609020204030204" pitchFamily="49" charset="0"/>
              </a:rPr>
              <a:t>4 | 9</a:t>
            </a:r>
          </a:p>
          <a:p>
            <a:r>
              <a:rPr lang="en-US" dirty="0">
                <a:latin typeface="Consolas" panose="020B0609020204030204" pitchFamily="49" charset="0"/>
              </a:rPr>
              <a:t>5 | 02244556</a:t>
            </a:r>
          </a:p>
          <a:p>
            <a:endParaRPr lang="en-US" dirty="0">
              <a:latin typeface="Consolas" panose="020B0609020204030204" pitchFamily="49" charset="0"/>
            </a:endParaRPr>
          </a:p>
          <a:p>
            <a:pPr algn="ctr"/>
            <a:r>
              <a:rPr lang="en-US" dirty="0">
                <a:solidFill>
                  <a:srgbClr val="FF0000"/>
                </a:solidFill>
              </a:rPr>
              <a:t>Mean: 53.0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48FB4716-7D03-D42D-D74F-9FFB41F373A6}"/>
              </a:ext>
            </a:extLst>
          </p:cNvPr>
          <p:cNvSpPr txBox="1"/>
          <p:nvPr/>
        </p:nvSpPr>
        <p:spPr>
          <a:xfrm>
            <a:off x="5487929" y="3255519"/>
            <a:ext cx="1451038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Consolas" panose="020B0609020204030204" pitchFamily="49" charset="0"/>
              </a:rPr>
              <a:t>2 | 379</a:t>
            </a:r>
          </a:p>
          <a:p>
            <a:r>
              <a:rPr lang="en-US" dirty="0">
                <a:latin typeface="Consolas" panose="020B0609020204030204" pitchFamily="49" charset="0"/>
              </a:rPr>
              <a:t>3 | 112234</a:t>
            </a:r>
          </a:p>
          <a:p>
            <a:pPr algn="ctr"/>
            <a:endParaRPr lang="en-US" dirty="0">
              <a:solidFill>
                <a:srgbClr val="0000FF"/>
              </a:solidFill>
            </a:endParaRPr>
          </a:p>
          <a:p>
            <a:pPr algn="ctr"/>
            <a:r>
              <a:rPr lang="en-US" dirty="0">
                <a:solidFill>
                  <a:srgbClr val="0000FF"/>
                </a:solidFill>
              </a:rPr>
              <a:t>Mean: 30.2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FC84EDF1-798F-1964-0C2D-44ED9EA3388B}"/>
              </a:ext>
            </a:extLst>
          </p:cNvPr>
          <p:cNvSpPr txBox="1"/>
          <p:nvPr/>
        </p:nvSpPr>
        <p:spPr>
          <a:xfrm>
            <a:off x="7382866" y="3255519"/>
            <a:ext cx="1830950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Consolas" panose="020B0609020204030204" pitchFamily="49" charset="0"/>
              </a:rPr>
              <a:t>1 | </a:t>
            </a:r>
            <a:r>
              <a:rPr lang="en-US" dirty="0">
                <a:highlight>
                  <a:srgbClr val="FFFF00"/>
                </a:highlight>
                <a:latin typeface="Consolas" panose="020B0609020204030204" pitchFamily="49" charset="0"/>
              </a:rPr>
              <a:t>44</a:t>
            </a:r>
            <a:r>
              <a:rPr lang="en-US" dirty="0">
                <a:latin typeface="Consolas" panose="020B0609020204030204" pitchFamily="49" charset="0"/>
              </a:rPr>
              <a:t>6667777</a:t>
            </a:r>
          </a:p>
          <a:p>
            <a:endParaRPr lang="en-US" dirty="0">
              <a:latin typeface="Consolas" panose="020B0609020204030204" pitchFamily="49" charset="0"/>
            </a:endParaRPr>
          </a:p>
          <a:p>
            <a:pPr algn="ctr"/>
            <a:endParaRPr lang="en-US" dirty="0">
              <a:solidFill>
                <a:srgbClr val="0000FF"/>
              </a:solidFill>
            </a:endParaRPr>
          </a:p>
          <a:p>
            <a:pPr algn="ctr"/>
            <a:r>
              <a:rPr lang="en-US" dirty="0">
                <a:solidFill>
                  <a:srgbClr val="0000FF"/>
                </a:solidFill>
              </a:rPr>
              <a:t>Mean: 16.0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CE66B96B-F91A-6821-01E0-7DD881D405D2}"/>
              </a:ext>
            </a:extLst>
          </p:cNvPr>
          <p:cNvSpPr txBox="1"/>
          <p:nvPr/>
        </p:nvSpPr>
        <p:spPr>
          <a:xfrm>
            <a:off x="9415150" y="3255519"/>
            <a:ext cx="1577676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Consolas" panose="020B0609020204030204" pitchFamily="49" charset="0"/>
              </a:rPr>
              <a:t>5 | 69</a:t>
            </a:r>
          </a:p>
          <a:p>
            <a:r>
              <a:rPr lang="en-US" dirty="0">
                <a:latin typeface="Consolas" panose="020B0609020204030204" pitchFamily="49" charset="0"/>
              </a:rPr>
              <a:t>6 | 0113455</a:t>
            </a:r>
          </a:p>
          <a:p>
            <a:endParaRPr lang="en-US" dirty="0">
              <a:latin typeface="Consolas" panose="020B0609020204030204" pitchFamily="49" charset="0"/>
            </a:endParaRPr>
          </a:p>
          <a:p>
            <a:pPr algn="ctr"/>
            <a:r>
              <a:rPr lang="en-US" dirty="0">
                <a:solidFill>
                  <a:srgbClr val="0000FF"/>
                </a:solidFill>
              </a:rPr>
              <a:t>Mean: 61.6</a:t>
            </a:r>
          </a:p>
        </p:txBody>
      </p:sp>
    </p:spTree>
    <p:extLst>
      <p:ext uri="{BB962C8B-B14F-4D97-AF65-F5344CB8AC3E}">
        <p14:creationId xmlns:p14="http://schemas.microsoft.com/office/powerpoint/2010/main" val="142699437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717C80BB-24DC-4E79-B5D9-FDAE94AD6F1F}"/>
              </a:ext>
            </a:extLst>
          </p:cNvPr>
          <p:cNvSpPr txBox="1"/>
          <p:nvPr/>
        </p:nvSpPr>
        <p:spPr>
          <a:xfrm>
            <a:off x="247284" y="3429000"/>
            <a:ext cx="1051891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Comic Sans MS" panose="030F0702030302020204" pitchFamily="66" charset="0"/>
              </a:rPr>
              <a:t>2023</a:t>
            </a:r>
          </a:p>
          <a:p>
            <a:r>
              <a:rPr lang="en-US" dirty="0">
                <a:latin typeface="Comic Sans MS" panose="030F0702030302020204" pitchFamily="66" charset="0"/>
              </a:rPr>
              <a:t>Group</a:t>
            </a:r>
            <a:br>
              <a:rPr lang="en-US" dirty="0">
                <a:latin typeface="Comic Sans MS" panose="030F0702030302020204" pitchFamily="66" charset="0"/>
              </a:rPr>
            </a:br>
            <a:r>
              <a:rPr lang="en-US" dirty="0">
                <a:latin typeface="Comic Sans MS" panose="030F0702030302020204" pitchFamily="66" charset="0"/>
              </a:rPr>
              <a:t>Guesses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43E77B4-A5D0-0338-894A-4F9CB2DE2EC9}"/>
              </a:ext>
            </a:extLst>
          </p:cNvPr>
          <p:cNvSpPr txBox="1"/>
          <p:nvPr/>
        </p:nvSpPr>
        <p:spPr>
          <a:xfrm>
            <a:off x="1602254" y="3255519"/>
            <a:ext cx="1577676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Consolas" panose="020B0609020204030204" pitchFamily="49" charset="0"/>
              </a:rPr>
              <a:t>6 | 68</a:t>
            </a:r>
          </a:p>
          <a:p>
            <a:r>
              <a:rPr lang="en-US" dirty="0">
                <a:latin typeface="Consolas" panose="020B0609020204030204" pitchFamily="49" charset="0"/>
              </a:rPr>
              <a:t>7 | 012</a:t>
            </a:r>
            <a:r>
              <a:rPr lang="en-US" dirty="0">
                <a:highlight>
                  <a:srgbClr val="FFFF00"/>
                </a:highlight>
                <a:latin typeface="Consolas" panose="020B0609020204030204" pitchFamily="49" charset="0"/>
              </a:rPr>
              <a:t>4</a:t>
            </a:r>
            <a:r>
              <a:rPr lang="en-US" dirty="0">
                <a:latin typeface="Consolas" panose="020B0609020204030204" pitchFamily="49" charset="0"/>
              </a:rPr>
              <a:t>557</a:t>
            </a:r>
            <a:endParaRPr lang="en-US" dirty="0"/>
          </a:p>
          <a:p>
            <a:endParaRPr lang="en-US" dirty="0"/>
          </a:p>
          <a:p>
            <a:pPr algn="ctr"/>
            <a:r>
              <a:rPr lang="en-US" dirty="0">
                <a:solidFill>
                  <a:srgbClr val="FF0000"/>
                </a:solidFill>
              </a:rPr>
              <a:t>Mean: 72.0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0346811-7BEC-0B7F-54A2-A7FBA77C3176}"/>
              </a:ext>
            </a:extLst>
          </p:cNvPr>
          <p:cNvSpPr txBox="1"/>
          <p:nvPr/>
        </p:nvSpPr>
        <p:spPr>
          <a:xfrm>
            <a:off x="3621075" y="3255519"/>
            <a:ext cx="1577676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Consolas" panose="020B0609020204030204" pitchFamily="49" charset="0"/>
              </a:rPr>
              <a:t>4 | 2366788</a:t>
            </a:r>
          </a:p>
          <a:p>
            <a:r>
              <a:rPr lang="en-US" dirty="0">
                <a:latin typeface="Consolas" panose="020B0609020204030204" pitchFamily="49" charset="0"/>
              </a:rPr>
              <a:t>5 | 33</a:t>
            </a:r>
          </a:p>
          <a:p>
            <a:pPr algn="ctr"/>
            <a:endParaRPr lang="en-US" dirty="0">
              <a:solidFill>
                <a:srgbClr val="0000FF"/>
              </a:solidFill>
            </a:endParaRPr>
          </a:p>
          <a:p>
            <a:pPr algn="ctr"/>
            <a:r>
              <a:rPr lang="en-US" dirty="0">
                <a:solidFill>
                  <a:srgbClr val="0000FF"/>
                </a:solidFill>
              </a:rPr>
              <a:t>Mean: 47.3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48FB4716-7D03-D42D-D74F-9FFB41F373A6}"/>
              </a:ext>
            </a:extLst>
          </p:cNvPr>
          <p:cNvSpPr txBox="1"/>
          <p:nvPr/>
        </p:nvSpPr>
        <p:spPr>
          <a:xfrm>
            <a:off x="5487929" y="3255519"/>
            <a:ext cx="1324402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Consolas" panose="020B0609020204030204" pitchFamily="49" charset="0"/>
              </a:rPr>
              <a:t>7 | 4589</a:t>
            </a:r>
          </a:p>
          <a:p>
            <a:r>
              <a:rPr lang="en-US" dirty="0">
                <a:latin typeface="Consolas" panose="020B0609020204030204" pitchFamily="49" charset="0"/>
              </a:rPr>
              <a:t>8 | 00001</a:t>
            </a:r>
          </a:p>
          <a:p>
            <a:pPr algn="ctr"/>
            <a:endParaRPr lang="en-US" dirty="0">
              <a:solidFill>
                <a:srgbClr val="0000FF"/>
              </a:solidFill>
            </a:endParaRPr>
          </a:p>
          <a:p>
            <a:pPr algn="ctr"/>
            <a:r>
              <a:rPr lang="en-US" dirty="0">
                <a:solidFill>
                  <a:srgbClr val="FF0000"/>
                </a:solidFill>
              </a:rPr>
              <a:t>Mean: 78.6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FC84EDF1-798F-1964-0C2D-44ED9EA3388B}"/>
              </a:ext>
            </a:extLst>
          </p:cNvPr>
          <p:cNvSpPr txBox="1"/>
          <p:nvPr/>
        </p:nvSpPr>
        <p:spPr>
          <a:xfrm>
            <a:off x="7382866" y="3255519"/>
            <a:ext cx="1830950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Consolas" panose="020B0609020204030204" pitchFamily="49" charset="0"/>
              </a:rPr>
              <a:t>3 | 001223558</a:t>
            </a:r>
          </a:p>
          <a:p>
            <a:pPr algn="ctr"/>
            <a:endParaRPr lang="en-US" dirty="0">
              <a:solidFill>
                <a:srgbClr val="0000FF"/>
              </a:solidFill>
            </a:endParaRPr>
          </a:p>
          <a:p>
            <a:pPr algn="ctr"/>
            <a:endParaRPr lang="en-US" dirty="0">
              <a:solidFill>
                <a:srgbClr val="0000FF"/>
              </a:solidFill>
            </a:endParaRPr>
          </a:p>
          <a:p>
            <a:pPr algn="ctr"/>
            <a:r>
              <a:rPr lang="en-US" dirty="0">
                <a:solidFill>
                  <a:srgbClr val="0000FF"/>
                </a:solidFill>
              </a:rPr>
              <a:t>Mean: 32.9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CE66B96B-F91A-6821-01E0-7DD881D405D2}"/>
              </a:ext>
            </a:extLst>
          </p:cNvPr>
          <p:cNvSpPr txBox="1"/>
          <p:nvPr/>
        </p:nvSpPr>
        <p:spPr>
          <a:xfrm>
            <a:off x="9415150" y="3255519"/>
            <a:ext cx="1324402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Consolas" panose="020B0609020204030204" pitchFamily="49" charset="0"/>
              </a:rPr>
              <a:t>2 | 1577</a:t>
            </a:r>
          </a:p>
          <a:p>
            <a:r>
              <a:rPr lang="en-US" dirty="0">
                <a:latin typeface="Consolas" panose="020B0609020204030204" pitchFamily="49" charset="0"/>
              </a:rPr>
              <a:t>3 | 0122</a:t>
            </a:r>
            <a:r>
              <a:rPr lang="en-US" dirty="0">
                <a:highlight>
                  <a:srgbClr val="FFFF00"/>
                </a:highlight>
                <a:latin typeface="Consolas" panose="020B0609020204030204" pitchFamily="49" charset="0"/>
              </a:rPr>
              <a:t>4</a:t>
            </a:r>
          </a:p>
          <a:p>
            <a:pPr algn="ctr"/>
            <a:endParaRPr lang="en-US" dirty="0">
              <a:solidFill>
                <a:srgbClr val="0000FF"/>
              </a:solidFill>
            </a:endParaRPr>
          </a:p>
          <a:p>
            <a:pPr algn="ctr"/>
            <a:r>
              <a:rPr lang="en-US" dirty="0">
                <a:solidFill>
                  <a:srgbClr val="FF0000"/>
                </a:solidFill>
              </a:rPr>
              <a:t>Mean: 28.8</a:t>
            </a:r>
          </a:p>
        </p:txBody>
      </p:sp>
      <p:pic>
        <p:nvPicPr>
          <p:cNvPr id="13" name="Picture 2" descr="http://www.gazettenet.com/csp/mediapool/sites/dt.common.streams.StreamServer.cls?STREAMOID=8$YaSEELCYtil7hvl9VzuM$daE2N3K4ZzOUsqbU5sYs7g5Crdt5ebC_xelTSDfARWCsjLu883Ygn4B49Lvm9bPe2QeMKQdVeZmXF$9l$4uCZ8QDXhaHEp3rvzXRJFdy0KqPHLoMevcTLo3h8xh70Y6N_U_CryOsw6FTOdKL_jpQ-&amp;CONTENTTYPE=image/jpeg">
            <a:extLst>
              <a:ext uri="{FF2B5EF4-FFF2-40B4-BE49-F238E27FC236}">
                <a16:creationId xmlns:a16="http://schemas.microsoft.com/office/drawing/2014/main" id="{B608B9F3-72F1-8511-EB66-792FEB61186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48714" y="8642"/>
            <a:ext cx="1906524" cy="2743200"/>
          </a:xfrm>
          <a:prstGeom prst="rect">
            <a:avLst/>
          </a:prstGeom>
          <a:noFill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4" name="Picture 2" descr="https://scontent-b-ord.xx.fbcdn.net/hphotos-xap1/t1.0-9/1795619_10152306099923977_7262188604397784485_n.jpg">
            <a:extLst>
              <a:ext uri="{FF2B5EF4-FFF2-40B4-BE49-F238E27FC236}">
                <a16:creationId xmlns:a16="http://schemas.microsoft.com/office/drawing/2014/main" id="{A4A95FF4-91DE-CD9D-644B-FA86BDE061E1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5092" r="28404"/>
          <a:stretch/>
        </p:blipFill>
        <p:spPr bwMode="auto">
          <a:xfrm>
            <a:off x="3337700" y="8642"/>
            <a:ext cx="2325063" cy="2743200"/>
          </a:xfrm>
          <a:prstGeom prst="rect">
            <a:avLst/>
          </a:prstGeom>
          <a:noFill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238DCF82-D554-946B-520E-2202A5B91D10}"/>
              </a:ext>
            </a:extLst>
          </p:cNvPr>
          <p:cNvSpPr txBox="1"/>
          <p:nvPr/>
        </p:nvSpPr>
        <p:spPr>
          <a:xfrm>
            <a:off x="1602254" y="2763433"/>
            <a:ext cx="903497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dirty="0"/>
              <a:t>#6 Age </a:t>
            </a:r>
            <a:r>
              <a:rPr lang="en-US" sz="2000" b="1" dirty="0"/>
              <a:t>74</a:t>
            </a:r>
            <a:r>
              <a:rPr lang="en-US" sz="2000" dirty="0"/>
              <a:t>                 #7 Age </a:t>
            </a:r>
            <a:r>
              <a:rPr lang="en-US" sz="2000" b="1" dirty="0"/>
              <a:t>44</a:t>
            </a:r>
            <a:r>
              <a:rPr lang="en-US" sz="2000" dirty="0"/>
              <a:t>                #8 Age </a:t>
            </a:r>
            <a:r>
              <a:rPr lang="en-US" sz="2000" b="1" dirty="0"/>
              <a:t>83</a:t>
            </a:r>
            <a:r>
              <a:rPr lang="en-US" sz="2000" dirty="0"/>
              <a:t>                #9 Age </a:t>
            </a:r>
            <a:r>
              <a:rPr lang="en-US" sz="2000" b="1" dirty="0"/>
              <a:t>24</a:t>
            </a:r>
            <a:r>
              <a:rPr lang="en-US" sz="2000" dirty="0"/>
              <a:t>              #10 Age </a:t>
            </a:r>
            <a:r>
              <a:rPr lang="en-US" sz="2000" b="1" dirty="0"/>
              <a:t>34</a:t>
            </a:r>
          </a:p>
        </p:txBody>
      </p:sp>
      <p:pic>
        <p:nvPicPr>
          <p:cNvPr id="16" name="Picture 2" descr="http://static2.stuff.co.nz/1334194607/613/6731613.jpg">
            <a:extLst>
              <a:ext uri="{FF2B5EF4-FFF2-40B4-BE49-F238E27FC236}">
                <a16:creationId xmlns:a16="http://schemas.microsoft.com/office/drawing/2014/main" id="{11FEE3A6-59D7-E326-D112-972BFA9B327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911545" y="8642"/>
            <a:ext cx="2280720" cy="2743200"/>
          </a:xfrm>
          <a:prstGeom prst="rect">
            <a:avLst/>
          </a:prstGeom>
          <a:noFill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7" name="Picture 4" descr="http://www.arteyvidachicago.com/wp-content/uploads/2013/09/Margo_Glantz.jpg">
            <a:extLst>
              <a:ext uri="{FF2B5EF4-FFF2-40B4-BE49-F238E27FC236}">
                <a16:creationId xmlns:a16="http://schemas.microsoft.com/office/drawing/2014/main" id="{580BB346-388B-428A-8B5E-BB783DBC0092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6584" r="6318"/>
          <a:stretch/>
        </p:blipFill>
        <p:spPr bwMode="auto">
          <a:xfrm>
            <a:off x="5208368" y="8642"/>
            <a:ext cx="1937957" cy="2743200"/>
          </a:xfrm>
          <a:prstGeom prst="rect">
            <a:avLst/>
          </a:prstGeom>
          <a:noFill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8" name="Picture 2" descr="http://www4.pictures.zimbio.com/gi/Bianca+Lawson+Riddick+Premieres+LA+Part+5+3K0OeeNcDdrl.jpg">
            <a:extLst>
              <a:ext uri="{FF2B5EF4-FFF2-40B4-BE49-F238E27FC236}">
                <a16:creationId xmlns:a16="http://schemas.microsoft.com/office/drawing/2014/main" id="{9B2C7D8A-7E71-F52E-2A2D-8EEAEC7AC233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023" r="7539"/>
          <a:stretch/>
        </p:blipFill>
        <p:spPr bwMode="auto">
          <a:xfrm>
            <a:off x="9087179" y="20233"/>
            <a:ext cx="1779374" cy="2743200"/>
          </a:xfrm>
          <a:prstGeom prst="rect">
            <a:avLst/>
          </a:prstGeom>
          <a:noFill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81752586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2" descr="http://www.ctvnews.ca/polopoly_fs/1.1797177!/httpImage/image.jpg_gen/derivatives/landscape_960/image.jpg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3829" r="28671"/>
          <a:stretch/>
        </p:blipFill>
        <p:spPr bwMode="auto">
          <a:xfrm>
            <a:off x="1536358" y="0"/>
            <a:ext cx="1828800" cy="2743200"/>
          </a:xfrm>
          <a:prstGeom prst="rect">
            <a:avLst/>
          </a:prstGeom>
          <a:noFill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TextBox 4"/>
          <p:cNvSpPr txBox="1"/>
          <p:nvPr/>
        </p:nvSpPr>
        <p:spPr>
          <a:xfrm>
            <a:off x="1598138" y="2741382"/>
            <a:ext cx="903497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dirty="0"/>
              <a:t>#1 Age </a:t>
            </a:r>
            <a:r>
              <a:rPr lang="en-US" sz="2000" b="1" dirty="0"/>
              <a:t>21</a:t>
            </a:r>
            <a:r>
              <a:rPr lang="en-US" sz="2000" dirty="0"/>
              <a:t>                 #2 Age </a:t>
            </a:r>
            <a:r>
              <a:rPr lang="en-US" sz="2000" b="1" dirty="0"/>
              <a:t>64</a:t>
            </a:r>
            <a:r>
              <a:rPr lang="en-US" sz="2000" dirty="0"/>
              <a:t>                #3 Age </a:t>
            </a:r>
            <a:r>
              <a:rPr lang="en-US" sz="2000" b="1" dirty="0"/>
              <a:t>28</a:t>
            </a:r>
            <a:r>
              <a:rPr lang="en-US" sz="2000" dirty="0"/>
              <a:t>                #4 Age </a:t>
            </a:r>
            <a:r>
              <a:rPr lang="en-US" sz="2000" b="1" dirty="0"/>
              <a:t>14</a:t>
            </a:r>
            <a:r>
              <a:rPr lang="en-US" sz="2000" dirty="0"/>
              <a:t>               #5 Age </a:t>
            </a:r>
            <a:r>
              <a:rPr lang="en-US" sz="2000" b="1" dirty="0"/>
              <a:t>54</a:t>
            </a:r>
          </a:p>
        </p:txBody>
      </p:sp>
      <p:pic>
        <p:nvPicPr>
          <p:cNvPr id="6" name="Picture 2" descr="http://www.politicalappointeeproject.org/sites/default/files/Katherine_Archuleta_0.jp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65159" y="0"/>
            <a:ext cx="1958471" cy="2743200"/>
          </a:xfrm>
          <a:prstGeom prst="rect">
            <a:avLst/>
          </a:prstGeom>
          <a:noFill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" name="Picture 2" descr="http://assets.fox.com/shows/masterchef/photos/Bios---Season-5/elise_bio-1-bio-374x452.jpg"/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7127" r="5222" b="11391"/>
          <a:stretch/>
        </p:blipFill>
        <p:spPr bwMode="auto">
          <a:xfrm>
            <a:off x="5323630" y="0"/>
            <a:ext cx="1989123" cy="2743200"/>
          </a:xfrm>
          <a:prstGeom prst="rect">
            <a:avLst/>
          </a:prstGeom>
          <a:noFill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1" name="Picture 2" descr="https://fbcdn-sphotos-c-a.akamaihd.net/hphotos-ak-xpa1/t1.0-9/10447071_10202402956259619_4611738436486884027_n.jpg"/>
          <p:cNvPicPr>
            <a:picLocks noChangeAspect="1" noChangeArrowheads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0694" t="8866" r="9389" b="45922"/>
          <a:stretch/>
        </p:blipFill>
        <p:spPr bwMode="auto">
          <a:xfrm>
            <a:off x="7294604" y="0"/>
            <a:ext cx="1816445" cy="2743200"/>
          </a:xfrm>
          <a:prstGeom prst="rect">
            <a:avLst/>
          </a:prstGeom>
          <a:noFill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2" name="Picture 2" descr="Mystery: Rosemary McGinn, a 54-year-old realtor, acted drunk for nearly two years due to a tumor that was producing too much insulin, causing her blood sugar levels to drop and starving her brain of fuel"/>
          <p:cNvPicPr>
            <a:picLocks noChangeAspect="1" noChangeArrowheads="1"/>
          </p:cNvPicPr>
          <p:nvPr/>
        </p:nvPicPr>
        <p:blipFill rotWithShape="1"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545" r="37482" b="9824"/>
          <a:stretch/>
        </p:blipFill>
        <p:spPr bwMode="auto">
          <a:xfrm>
            <a:off x="9036909" y="0"/>
            <a:ext cx="1596207" cy="2743200"/>
          </a:xfrm>
          <a:prstGeom prst="rect">
            <a:avLst/>
          </a:prstGeom>
          <a:noFill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717C80BB-24DC-4E79-B5D9-FDAE94AD6F1F}"/>
              </a:ext>
            </a:extLst>
          </p:cNvPr>
          <p:cNvSpPr txBox="1"/>
          <p:nvPr/>
        </p:nvSpPr>
        <p:spPr>
          <a:xfrm>
            <a:off x="247284" y="3429000"/>
            <a:ext cx="1051891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Comic Sans MS" panose="030F0702030302020204" pitchFamily="66" charset="0"/>
              </a:rPr>
              <a:t>2024</a:t>
            </a:r>
          </a:p>
          <a:p>
            <a:r>
              <a:rPr lang="en-US" dirty="0">
                <a:latin typeface="Comic Sans MS" panose="030F0702030302020204" pitchFamily="66" charset="0"/>
              </a:rPr>
              <a:t>Group</a:t>
            </a:r>
            <a:br>
              <a:rPr lang="en-US" dirty="0">
                <a:latin typeface="Comic Sans MS" panose="030F0702030302020204" pitchFamily="66" charset="0"/>
              </a:rPr>
            </a:br>
            <a:r>
              <a:rPr lang="en-US" dirty="0">
                <a:latin typeface="Comic Sans MS" panose="030F0702030302020204" pitchFamily="66" charset="0"/>
              </a:rPr>
              <a:t>Guesses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43E77B4-A5D0-0338-894A-4F9CB2DE2EC9}"/>
              </a:ext>
            </a:extLst>
          </p:cNvPr>
          <p:cNvSpPr txBox="1"/>
          <p:nvPr/>
        </p:nvSpPr>
        <p:spPr>
          <a:xfrm>
            <a:off x="1443594" y="3255519"/>
            <a:ext cx="1995803" cy="286232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Consolas" panose="020B0609020204030204" pitchFamily="49" charset="0"/>
              </a:rPr>
              <a:t>2 | 2234</a:t>
            </a:r>
          </a:p>
          <a:p>
            <a:r>
              <a:rPr lang="en-US" dirty="0">
                <a:latin typeface="Consolas" panose="020B0609020204030204" pitchFamily="49" charset="0"/>
              </a:rPr>
              <a:t>2 | 55555678</a:t>
            </a:r>
          </a:p>
          <a:p>
            <a:r>
              <a:rPr lang="en-US" dirty="0">
                <a:latin typeface="Consolas" panose="020B0609020204030204" pitchFamily="49" charset="0"/>
              </a:rPr>
              <a:t>3 | 2</a:t>
            </a:r>
          </a:p>
          <a:p>
            <a:endParaRPr lang="en-US" dirty="0"/>
          </a:p>
          <a:p>
            <a:pPr algn="ctr"/>
            <a:r>
              <a:rPr lang="en-US" dirty="0">
                <a:solidFill>
                  <a:srgbClr val="0000FF"/>
                </a:solidFill>
              </a:rPr>
              <a:t>Mean Guess: 25.3</a:t>
            </a:r>
          </a:p>
          <a:p>
            <a:pPr algn="ctr"/>
            <a:r>
              <a:rPr lang="en-US" dirty="0">
                <a:solidFill>
                  <a:srgbClr val="0000FF"/>
                </a:solidFill>
              </a:rPr>
              <a:t>Mean |Error| = 4.3</a:t>
            </a:r>
          </a:p>
          <a:p>
            <a:pPr algn="ctr"/>
            <a:endParaRPr lang="en-US" dirty="0">
              <a:solidFill>
                <a:srgbClr val="0000FF"/>
              </a:solidFill>
            </a:endParaRPr>
          </a:p>
          <a:p>
            <a:pPr algn="ctr"/>
            <a:endParaRPr lang="en-US" dirty="0">
              <a:solidFill>
                <a:srgbClr val="0000FF"/>
              </a:solidFill>
            </a:endParaRPr>
          </a:p>
          <a:p>
            <a:pPr algn="ctr"/>
            <a:r>
              <a:rPr lang="en-US" dirty="0">
                <a:solidFill>
                  <a:srgbClr val="7030A0"/>
                </a:solidFill>
              </a:rPr>
              <a:t>AI  Guess = 21</a:t>
            </a:r>
          </a:p>
          <a:p>
            <a:pPr algn="ctr"/>
            <a:r>
              <a:rPr lang="en-US" dirty="0">
                <a:solidFill>
                  <a:srgbClr val="7030A0"/>
                </a:solidFill>
              </a:rPr>
              <a:t>AI |Error| = 0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0346811-7BEC-0B7F-54A2-A7FBA77C3176}"/>
              </a:ext>
            </a:extLst>
          </p:cNvPr>
          <p:cNvSpPr txBox="1"/>
          <p:nvPr/>
        </p:nvSpPr>
        <p:spPr>
          <a:xfrm>
            <a:off x="3621075" y="3255519"/>
            <a:ext cx="1885453" cy="286232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Consolas" panose="020B0609020204030204" pitchFamily="49" charset="0"/>
              </a:rPr>
              <a:t>4 | 3</a:t>
            </a:r>
          </a:p>
          <a:p>
            <a:r>
              <a:rPr lang="en-US" dirty="0">
                <a:latin typeface="Consolas" panose="020B0609020204030204" pitchFamily="49" charset="0"/>
              </a:rPr>
              <a:t>5 | 3345689</a:t>
            </a:r>
          </a:p>
          <a:p>
            <a:r>
              <a:rPr lang="en-US" dirty="0">
                <a:latin typeface="Consolas" panose="020B0609020204030204" pitchFamily="49" charset="0"/>
              </a:rPr>
              <a:t>6 | 00223</a:t>
            </a:r>
          </a:p>
          <a:p>
            <a:endParaRPr lang="en-US" dirty="0">
              <a:latin typeface="Consolas" panose="020B0609020204030204" pitchFamily="49" charset="0"/>
            </a:endParaRPr>
          </a:p>
          <a:p>
            <a:pPr algn="ctr"/>
            <a:r>
              <a:rPr lang="en-US" dirty="0">
                <a:solidFill>
                  <a:srgbClr val="FF0000"/>
                </a:solidFill>
              </a:rPr>
              <a:t>Mean Guess: 56.7</a:t>
            </a:r>
          </a:p>
          <a:p>
            <a:pPr algn="ctr"/>
            <a:r>
              <a:rPr lang="en-US" dirty="0">
                <a:solidFill>
                  <a:srgbClr val="FF0000"/>
                </a:solidFill>
              </a:rPr>
              <a:t>Mean |Err| = 7.2</a:t>
            </a:r>
          </a:p>
          <a:p>
            <a:pPr algn="ctr"/>
            <a:endParaRPr lang="en-US" dirty="0">
              <a:solidFill>
                <a:srgbClr val="FF0000"/>
              </a:solidFill>
            </a:endParaRPr>
          </a:p>
          <a:p>
            <a:pPr algn="ctr"/>
            <a:endParaRPr lang="en-US" dirty="0">
              <a:solidFill>
                <a:srgbClr val="FF0000"/>
              </a:solidFill>
            </a:endParaRPr>
          </a:p>
          <a:p>
            <a:pPr algn="ctr"/>
            <a:r>
              <a:rPr lang="en-US" dirty="0">
                <a:solidFill>
                  <a:srgbClr val="7030A0"/>
                </a:solidFill>
              </a:rPr>
              <a:t>AI Guess = 49</a:t>
            </a:r>
          </a:p>
          <a:p>
            <a:pPr algn="ctr"/>
            <a:r>
              <a:rPr lang="en-US" dirty="0">
                <a:solidFill>
                  <a:srgbClr val="7030A0"/>
                </a:solidFill>
              </a:rPr>
              <a:t>AI |Err| = 15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48FB4716-7D03-D42D-D74F-9FFB41F373A6}"/>
              </a:ext>
            </a:extLst>
          </p:cNvPr>
          <p:cNvSpPr txBox="1"/>
          <p:nvPr/>
        </p:nvSpPr>
        <p:spPr>
          <a:xfrm>
            <a:off x="5487929" y="3255519"/>
            <a:ext cx="1885453" cy="286232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Consolas" panose="020B0609020204030204" pitchFamily="49" charset="0"/>
              </a:rPr>
              <a:t>2 | 77</a:t>
            </a:r>
            <a:r>
              <a:rPr lang="en-US" dirty="0">
                <a:highlight>
                  <a:srgbClr val="FFFF00"/>
                </a:highlight>
                <a:latin typeface="Consolas" panose="020B0609020204030204" pitchFamily="49" charset="0"/>
              </a:rPr>
              <a:t>8</a:t>
            </a:r>
          </a:p>
          <a:p>
            <a:r>
              <a:rPr lang="en-US" dirty="0">
                <a:latin typeface="Consolas" panose="020B0609020204030204" pitchFamily="49" charset="0"/>
              </a:rPr>
              <a:t>3 | 12222223</a:t>
            </a:r>
          </a:p>
          <a:p>
            <a:r>
              <a:rPr lang="en-US" dirty="0">
                <a:latin typeface="Consolas" panose="020B0609020204030204" pitchFamily="49" charset="0"/>
              </a:rPr>
              <a:t>3 | 55</a:t>
            </a:r>
          </a:p>
          <a:p>
            <a:pPr algn="ctr"/>
            <a:endParaRPr lang="en-US" dirty="0">
              <a:solidFill>
                <a:srgbClr val="0000FF"/>
              </a:solidFill>
            </a:endParaRPr>
          </a:p>
          <a:p>
            <a:pPr algn="ctr"/>
            <a:r>
              <a:rPr lang="en-US" dirty="0">
                <a:solidFill>
                  <a:srgbClr val="0000FF"/>
                </a:solidFill>
              </a:rPr>
              <a:t>Mean Guess: 31.3</a:t>
            </a:r>
          </a:p>
          <a:p>
            <a:pPr algn="ctr"/>
            <a:r>
              <a:rPr lang="en-US" dirty="0">
                <a:solidFill>
                  <a:srgbClr val="0000FF"/>
                </a:solidFill>
              </a:rPr>
              <a:t>Mean |Err| = 3.7</a:t>
            </a:r>
          </a:p>
          <a:p>
            <a:pPr algn="ctr"/>
            <a:endParaRPr lang="en-US" dirty="0">
              <a:solidFill>
                <a:srgbClr val="0000FF"/>
              </a:solidFill>
            </a:endParaRPr>
          </a:p>
          <a:p>
            <a:pPr algn="ctr"/>
            <a:endParaRPr lang="en-US" dirty="0">
              <a:solidFill>
                <a:srgbClr val="0000FF"/>
              </a:solidFill>
            </a:endParaRPr>
          </a:p>
          <a:p>
            <a:pPr algn="ctr"/>
            <a:r>
              <a:rPr lang="en-US" dirty="0">
                <a:solidFill>
                  <a:srgbClr val="7030A0"/>
                </a:solidFill>
              </a:rPr>
              <a:t>AI Guess = 27</a:t>
            </a:r>
          </a:p>
          <a:p>
            <a:pPr algn="ctr"/>
            <a:r>
              <a:rPr lang="en-US" dirty="0">
                <a:solidFill>
                  <a:srgbClr val="7030A0"/>
                </a:solidFill>
              </a:rPr>
              <a:t>AI |Err| = 1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FC84EDF1-798F-1964-0C2D-44ED9EA3388B}"/>
              </a:ext>
            </a:extLst>
          </p:cNvPr>
          <p:cNvSpPr txBox="1"/>
          <p:nvPr/>
        </p:nvSpPr>
        <p:spPr>
          <a:xfrm>
            <a:off x="7382866" y="3255519"/>
            <a:ext cx="1885453" cy="286232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Consolas" panose="020B0609020204030204" pitchFamily="49" charset="0"/>
              </a:rPr>
              <a:t>1 | 2</a:t>
            </a:r>
            <a:r>
              <a:rPr lang="en-US" dirty="0">
                <a:highlight>
                  <a:srgbClr val="FFFF00"/>
                </a:highlight>
                <a:latin typeface="Consolas" panose="020B0609020204030204" pitchFamily="49" charset="0"/>
              </a:rPr>
              <a:t>4444</a:t>
            </a:r>
          </a:p>
          <a:p>
            <a:r>
              <a:rPr lang="en-US" dirty="0">
                <a:latin typeface="Consolas" panose="020B0609020204030204" pitchFamily="49" charset="0"/>
              </a:rPr>
              <a:t>1 | 55556778</a:t>
            </a:r>
          </a:p>
          <a:p>
            <a:endParaRPr lang="en-US" dirty="0">
              <a:latin typeface="Consolas" panose="020B0609020204030204" pitchFamily="49" charset="0"/>
            </a:endParaRPr>
          </a:p>
          <a:p>
            <a:pPr algn="ctr"/>
            <a:endParaRPr lang="en-US" dirty="0">
              <a:solidFill>
                <a:srgbClr val="0000FF"/>
              </a:solidFill>
            </a:endParaRPr>
          </a:p>
          <a:p>
            <a:pPr algn="ctr"/>
            <a:r>
              <a:rPr lang="en-US" dirty="0">
                <a:solidFill>
                  <a:srgbClr val="0000FF"/>
                </a:solidFill>
              </a:rPr>
              <a:t>Mean Guess: 15.1</a:t>
            </a:r>
          </a:p>
          <a:p>
            <a:pPr algn="ctr"/>
            <a:r>
              <a:rPr lang="en-US" dirty="0">
                <a:solidFill>
                  <a:srgbClr val="0000FF"/>
                </a:solidFill>
              </a:rPr>
              <a:t>Mean |Err| = 1.4</a:t>
            </a:r>
          </a:p>
          <a:p>
            <a:pPr algn="ctr"/>
            <a:endParaRPr lang="en-US" dirty="0">
              <a:solidFill>
                <a:srgbClr val="0000FF"/>
              </a:solidFill>
            </a:endParaRPr>
          </a:p>
          <a:p>
            <a:pPr algn="ctr"/>
            <a:endParaRPr lang="en-US" dirty="0">
              <a:solidFill>
                <a:srgbClr val="0000FF"/>
              </a:solidFill>
            </a:endParaRPr>
          </a:p>
          <a:p>
            <a:pPr algn="ctr"/>
            <a:r>
              <a:rPr lang="en-US" dirty="0">
                <a:solidFill>
                  <a:srgbClr val="7030A0"/>
                </a:solidFill>
              </a:rPr>
              <a:t>AI Guess = 18</a:t>
            </a:r>
          </a:p>
          <a:p>
            <a:pPr algn="ctr"/>
            <a:r>
              <a:rPr lang="en-US" dirty="0">
                <a:solidFill>
                  <a:srgbClr val="7030A0"/>
                </a:solidFill>
              </a:rPr>
              <a:t>AI |Err| = 4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CE66B96B-F91A-6821-01E0-7DD881D405D2}"/>
              </a:ext>
            </a:extLst>
          </p:cNvPr>
          <p:cNvSpPr txBox="1"/>
          <p:nvPr/>
        </p:nvSpPr>
        <p:spPr>
          <a:xfrm>
            <a:off x="9415150" y="3255519"/>
            <a:ext cx="1886222" cy="286232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Consolas" panose="020B0609020204030204" pitchFamily="49" charset="0"/>
              </a:rPr>
              <a:t>5 | 16</a:t>
            </a:r>
          </a:p>
          <a:p>
            <a:r>
              <a:rPr lang="en-US" dirty="0">
                <a:latin typeface="Consolas" panose="020B0609020204030204" pitchFamily="49" charset="0"/>
              </a:rPr>
              <a:t>6 | 01223</a:t>
            </a:r>
          </a:p>
          <a:p>
            <a:r>
              <a:rPr lang="en-US" dirty="0">
                <a:latin typeface="Consolas" panose="020B0609020204030204" pitchFamily="49" charset="0"/>
              </a:rPr>
              <a:t>6 | 7788</a:t>
            </a:r>
          </a:p>
          <a:p>
            <a:r>
              <a:rPr lang="en-US" dirty="0">
                <a:latin typeface="Consolas" panose="020B0609020204030204" pitchFamily="49" charset="0"/>
              </a:rPr>
              <a:t>7 | 0</a:t>
            </a:r>
          </a:p>
          <a:p>
            <a:endParaRPr lang="en-US" dirty="0">
              <a:latin typeface="Consolas" panose="020B0609020204030204" pitchFamily="49" charset="0"/>
            </a:endParaRPr>
          </a:p>
          <a:p>
            <a:pPr algn="ctr"/>
            <a:r>
              <a:rPr lang="en-US" dirty="0">
                <a:solidFill>
                  <a:srgbClr val="0000FF"/>
                </a:solidFill>
              </a:rPr>
              <a:t>Mean Guess: 63.5</a:t>
            </a:r>
          </a:p>
          <a:p>
            <a:pPr algn="ctr"/>
            <a:r>
              <a:rPr lang="en-US" dirty="0">
                <a:solidFill>
                  <a:srgbClr val="0000FF"/>
                </a:solidFill>
              </a:rPr>
              <a:t>Mean |Err| = 9.9</a:t>
            </a:r>
          </a:p>
          <a:p>
            <a:pPr algn="ctr"/>
            <a:endParaRPr lang="en-US" dirty="0">
              <a:solidFill>
                <a:srgbClr val="0000FF"/>
              </a:solidFill>
            </a:endParaRPr>
          </a:p>
          <a:p>
            <a:pPr algn="ctr"/>
            <a:r>
              <a:rPr lang="en-US" dirty="0">
                <a:solidFill>
                  <a:srgbClr val="7030A0"/>
                </a:solidFill>
              </a:rPr>
              <a:t>AI Guess = 49</a:t>
            </a:r>
          </a:p>
          <a:p>
            <a:pPr algn="ctr"/>
            <a:r>
              <a:rPr lang="en-US" dirty="0">
                <a:solidFill>
                  <a:srgbClr val="7030A0"/>
                </a:solidFill>
              </a:rPr>
              <a:t>AI |Err| = 5</a:t>
            </a:r>
          </a:p>
        </p:txBody>
      </p:sp>
    </p:spTree>
    <p:extLst>
      <p:ext uri="{BB962C8B-B14F-4D97-AF65-F5344CB8AC3E}">
        <p14:creationId xmlns:p14="http://schemas.microsoft.com/office/powerpoint/2010/main" val="37796127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717C80BB-24DC-4E79-B5D9-FDAE94AD6F1F}"/>
              </a:ext>
            </a:extLst>
          </p:cNvPr>
          <p:cNvSpPr txBox="1"/>
          <p:nvPr/>
        </p:nvSpPr>
        <p:spPr>
          <a:xfrm>
            <a:off x="247284" y="3429000"/>
            <a:ext cx="1051891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Comic Sans MS" panose="030F0702030302020204" pitchFamily="66" charset="0"/>
              </a:rPr>
              <a:t>2024</a:t>
            </a:r>
          </a:p>
          <a:p>
            <a:r>
              <a:rPr lang="en-US" dirty="0">
                <a:latin typeface="Comic Sans MS" panose="030F0702030302020204" pitchFamily="66" charset="0"/>
              </a:rPr>
              <a:t>Group</a:t>
            </a:r>
            <a:br>
              <a:rPr lang="en-US" dirty="0">
                <a:latin typeface="Comic Sans MS" panose="030F0702030302020204" pitchFamily="66" charset="0"/>
              </a:rPr>
            </a:br>
            <a:r>
              <a:rPr lang="en-US" dirty="0">
                <a:latin typeface="Comic Sans MS" panose="030F0702030302020204" pitchFamily="66" charset="0"/>
              </a:rPr>
              <a:t>Guesses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43E77B4-A5D0-0338-894A-4F9CB2DE2EC9}"/>
              </a:ext>
            </a:extLst>
          </p:cNvPr>
          <p:cNvSpPr txBox="1"/>
          <p:nvPr/>
        </p:nvSpPr>
        <p:spPr>
          <a:xfrm>
            <a:off x="1517956" y="3255519"/>
            <a:ext cx="1994970" cy="286232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Consolas" panose="020B0609020204030204" pitchFamily="49" charset="0"/>
              </a:rPr>
              <a:t>6 | 889</a:t>
            </a:r>
          </a:p>
          <a:p>
            <a:r>
              <a:rPr lang="en-US" dirty="0">
                <a:latin typeface="Consolas" panose="020B0609020204030204" pitchFamily="49" charset="0"/>
              </a:rPr>
              <a:t>7 | 02233</a:t>
            </a:r>
          </a:p>
          <a:p>
            <a:r>
              <a:rPr lang="en-US" dirty="0">
                <a:latin typeface="Consolas" panose="020B0609020204030204" pitchFamily="49" charset="0"/>
              </a:rPr>
              <a:t>7 | 55788</a:t>
            </a:r>
            <a:endParaRPr lang="en-US" dirty="0"/>
          </a:p>
          <a:p>
            <a:endParaRPr lang="en-US" dirty="0"/>
          </a:p>
          <a:p>
            <a:pPr algn="ctr"/>
            <a:r>
              <a:rPr lang="en-US" dirty="0">
                <a:solidFill>
                  <a:srgbClr val="FF0000"/>
                </a:solidFill>
              </a:rPr>
              <a:t>Mean Guess: 72.9</a:t>
            </a:r>
          </a:p>
          <a:p>
            <a:pPr algn="ctr"/>
            <a:r>
              <a:rPr lang="en-US" dirty="0">
                <a:solidFill>
                  <a:srgbClr val="FF0000"/>
                </a:solidFill>
              </a:rPr>
              <a:t>Mean |Error| = 3.1</a:t>
            </a:r>
          </a:p>
          <a:p>
            <a:pPr algn="ctr"/>
            <a:endParaRPr lang="en-US" dirty="0">
              <a:solidFill>
                <a:srgbClr val="FF0000"/>
              </a:solidFill>
            </a:endParaRPr>
          </a:p>
          <a:p>
            <a:pPr algn="ctr"/>
            <a:endParaRPr lang="en-US" dirty="0">
              <a:solidFill>
                <a:srgbClr val="FF0000"/>
              </a:solidFill>
            </a:endParaRPr>
          </a:p>
          <a:p>
            <a:pPr algn="ctr"/>
            <a:r>
              <a:rPr lang="en-US" dirty="0">
                <a:solidFill>
                  <a:srgbClr val="7030A0"/>
                </a:solidFill>
              </a:rPr>
              <a:t>AI Guess = 66</a:t>
            </a:r>
          </a:p>
          <a:p>
            <a:pPr algn="ctr"/>
            <a:r>
              <a:rPr lang="en-US" dirty="0">
                <a:solidFill>
                  <a:srgbClr val="7030A0"/>
                </a:solidFill>
              </a:rPr>
              <a:t>AI |Error| = 8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0346811-7BEC-0B7F-54A2-A7FBA77C3176}"/>
              </a:ext>
            </a:extLst>
          </p:cNvPr>
          <p:cNvSpPr txBox="1"/>
          <p:nvPr/>
        </p:nvSpPr>
        <p:spPr>
          <a:xfrm>
            <a:off x="3621075" y="3255519"/>
            <a:ext cx="1886222" cy="286232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Consolas" panose="020B0609020204030204" pitchFamily="49" charset="0"/>
              </a:rPr>
              <a:t>4 | 33</a:t>
            </a:r>
          </a:p>
          <a:p>
            <a:r>
              <a:rPr lang="en-US" dirty="0">
                <a:latin typeface="Consolas" panose="020B0609020204030204" pitchFamily="49" charset="0"/>
              </a:rPr>
              <a:t>4 | 56677889</a:t>
            </a:r>
          </a:p>
          <a:p>
            <a:r>
              <a:rPr lang="en-US" dirty="0">
                <a:latin typeface="Consolas" panose="020B0609020204030204" pitchFamily="49" charset="0"/>
              </a:rPr>
              <a:t>5 | 012</a:t>
            </a:r>
          </a:p>
          <a:p>
            <a:pPr algn="ctr"/>
            <a:endParaRPr lang="en-US" dirty="0">
              <a:solidFill>
                <a:srgbClr val="0000FF"/>
              </a:solidFill>
            </a:endParaRPr>
          </a:p>
          <a:p>
            <a:pPr algn="ctr"/>
            <a:r>
              <a:rPr lang="en-US" dirty="0">
                <a:solidFill>
                  <a:srgbClr val="0000FF"/>
                </a:solidFill>
              </a:rPr>
              <a:t>Mean Guess: 47.3</a:t>
            </a:r>
          </a:p>
          <a:p>
            <a:pPr algn="ctr"/>
            <a:r>
              <a:rPr lang="en-US" dirty="0">
                <a:solidFill>
                  <a:srgbClr val="0000FF"/>
                </a:solidFill>
              </a:rPr>
              <a:t>Mean |Err| = 3.6</a:t>
            </a:r>
          </a:p>
          <a:p>
            <a:pPr algn="ctr"/>
            <a:endParaRPr lang="en-US" dirty="0">
              <a:solidFill>
                <a:srgbClr val="0000FF"/>
              </a:solidFill>
            </a:endParaRPr>
          </a:p>
          <a:p>
            <a:pPr algn="ctr"/>
            <a:endParaRPr lang="en-US" dirty="0">
              <a:solidFill>
                <a:srgbClr val="0000FF"/>
              </a:solidFill>
            </a:endParaRPr>
          </a:p>
          <a:p>
            <a:pPr algn="ctr"/>
            <a:r>
              <a:rPr lang="en-US" dirty="0">
                <a:solidFill>
                  <a:srgbClr val="7030A0"/>
                </a:solidFill>
              </a:rPr>
              <a:t>AI Guess = 34</a:t>
            </a:r>
          </a:p>
          <a:p>
            <a:pPr algn="ctr"/>
            <a:r>
              <a:rPr lang="en-US" dirty="0">
                <a:solidFill>
                  <a:srgbClr val="7030A0"/>
                </a:solidFill>
              </a:rPr>
              <a:t>AI |Err| = 10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48FB4716-7D03-D42D-D74F-9FFB41F373A6}"/>
              </a:ext>
            </a:extLst>
          </p:cNvPr>
          <p:cNvSpPr txBox="1"/>
          <p:nvPr/>
        </p:nvSpPr>
        <p:spPr>
          <a:xfrm>
            <a:off x="5487929" y="3255519"/>
            <a:ext cx="1884618" cy="286232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Consolas" panose="020B0609020204030204" pitchFamily="49" charset="0"/>
              </a:rPr>
              <a:t>7 | 0</a:t>
            </a:r>
          </a:p>
          <a:p>
            <a:r>
              <a:rPr lang="en-US" dirty="0">
                <a:latin typeface="Consolas" panose="020B0609020204030204" pitchFamily="49" charset="0"/>
              </a:rPr>
              <a:t>7 | 558</a:t>
            </a:r>
          </a:p>
          <a:p>
            <a:r>
              <a:rPr lang="en-US" dirty="0">
                <a:latin typeface="Consolas" panose="020B0609020204030204" pitchFamily="49" charset="0"/>
              </a:rPr>
              <a:t>8 | 000044</a:t>
            </a:r>
          </a:p>
          <a:p>
            <a:r>
              <a:rPr lang="en-US" dirty="0">
                <a:latin typeface="Consolas" panose="020B0609020204030204" pitchFamily="49" charset="0"/>
              </a:rPr>
              <a:t>8 | 557</a:t>
            </a:r>
          </a:p>
          <a:p>
            <a:pPr algn="ctr"/>
            <a:endParaRPr lang="en-US" dirty="0">
              <a:solidFill>
                <a:srgbClr val="0000FF"/>
              </a:solidFill>
            </a:endParaRPr>
          </a:p>
          <a:p>
            <a:pPr algn="ctr"/>
            <a:r>
              <a:rPr lang="en-US" dirty="0">
                <a:solidFill>
                  <a:srgbClr val="FF0000"/>
                </a:solidFill>
              </a:rPr>
              <a:t>Mean Guess: 80.2</a:t>
            </a:r>
          </a:p>
          <a:p>
            <a:pPr algn="ctr"/>
            <a:r>
              <a:rPr lang="en-US" dirty="0">
                <a:solidFill>
                  <a:srgbClr val="FF0000"/>
                </a:solidFill>
              </a:rPr>
              <a:t>Mean |Err| = 4.3</a:t>
            </a:r>
          </a:p>
          <a:p>
            <a:pPr algn="ctr"/>
            <a:endParaRPr lang="en-US" dirty="0">
              <a:solidFill>
                <a:srgbClr val="FF0000"/>
              </a:solidFill>
            </a:endParaRPr>
          </a:p>
          <a:p>
            <a:pPr algn="ctr"/>
            <a:r>
              <a:rPr lang="en-US" dirty="0">
                <a:solidFill>
                  <a:srgbClr val="7030A0"/>
                </a:solidFill>
              </a:rPr>
              <a:t>AI Guess = 68</a:t>
            </a:r>
          </a:p>
          <a:p>
            <a:pPr algn="ctr"/>
            <a:r>
              <a:rPr lang="en-US" dirty="0">
                <a:solidFill>
                  <a:srgbClr val="7030A0"/>
                </a:solidFill>
              </a:rPr>
              <a:t>AI |Err| = 15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FC84EDF1-798F-1964-0C2D-44ED9EA3388B}"/>
              </a:ext>
            </a:extLst>
          </p:cNvPr>
          <p:cNvSpPr txBox="1"/>
          <p:nvPr/>
        </p:nvSpPr>
        <p:spPr>
          <a:xfrm>
            <a:off x="7382866" y="3255519"/>
            <a:ext cx="1885453" cy="286232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Consolas" panose="020B0609020204030204" pitchFamily="49" charset="0"/>
              </a:rPr>
              <a:t>2 | 77</a:t>
            </a:r>
          </a:p>
          <a:p>
            <a:r>
              <a:rPr lang="en-US" dirty="0">
                <a:latin typeface="Consolas" panose="020B0609020204030204" pitchFamily="49" charset="0"/>
              </a:rPr>
              <a:t>3 | 002234</a:t>
            </a:r>
          </a:p>
          <a:p>
            <a:r>
              <a:rPr lang="en-US" dirty="0">
                <a:latin typeface="Consolas" panose="020B0609020204030204" pitchFamily="49" charset="0"/>
              </a:rPr>
              <a:t>3 | 6789</a:t>
            </a:r>
          </a:p>
          <a:p>
            <a:r>
              <a:rPr lang="en-US" dirty="0">
                <a:latin typeface="Consolas" panose="020B0609020204030204" pitchFamily="49" charset="0"/>
              </a:rPr>
              <a:t>4 | 0</a:t>
            </a:r>
          </a:p>
          <a:p>
            <a:pPr algn="ctr"/>
            <a:endParaRPr lang="en-US" dirty="0">
              <a:solidFill>
                <a:srgbClr val="0000FF"/>
              </a:solidFill>
            </a:endParaRPr>
          </a:p>
          <a:p>
            <a:pPr algn="ctr"/>
            <a:r>
              <a:rPr lang="en-US" dirty="0">
                <a:solidFill>
                  <a:srgbClr val="0000FF"/>
                </a:solidFill>
              </a:rPr>
              <a:t>Mean Guess: 33.5</a:t>
            </a:r>
          </a:p>
          <a:p>
            <a:pPr algn="ctr"/>
            <a:r>
              <a:rPr lang="en-US" dirty="0">
                <a:solidFill>
                  <a:srgbClr val="0000FF"/>
                </a:solidFill>
              </a:rPr>
              <a:t>Mean |Err| = 9.5</a:t>
            </a:r>
          </a:p>
          <a:p>
            <a:pPr algn="ctr"/>
            <a:endParaRPr lang="en-US" dirty="0">
              <a:solidFill>
                <a:srgbClr val="0000FF"/>
              </a:solidFill>
            </a:endParaRPr>
          </a:p>
          <a:p>
            <a:pPr algn="ctr"/>
            <a:r>
              <a:rPr lang="en-US" dirty="0">
                <a:solidFill>
                  <a:srgbClr val="7030A0"/>
                </a:solidFill>
              </a:rPr>
              <a:t>AI Guess = 30</a:t>
            </a:r>
          </a:p>
          <a:p>
            <a:pPr algn="ctr"/>
            <a:r>
              <a:rPr lang="en-US" dirty="0">
                <a:solidFill>
                  <a:srgbClr val="7030A0"/>
                </a:solidFill>
              </a:rPr>
              <a:t>AI |Err| = 6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CE66B96B-F91A-6821-01E0-7DD881D405D2}"/>
              </a:ext>
            </a:extLst>
          </p:cNvPr>
          <p:cNvSpPr txBox="1"/>
          <p:nvPr/>
        </p:nvSpPr>
        <p:spPr>
          <a:xfrm>
            <a:off x="9415150" y="3255519"/>
            <a:ext cx="1886222" cy="286232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Consolas" panose="020B0609020204030204" pitchFamily="49" charset="0"/>
              </a:rPr>
              <a:t>2 | 66799999</a:t>
            </a:r>
          </a:p>
          <a:p>
            <a:r>
              <a:rPr lang="en-US" dirty="0">
                <a:latin typeface="Consolas" panose="020B0609020204030204" pitchFamily="49" charset="0"/>
              </a:rPr>
              <a:t>3 | 13</a:t>
            </a:r>
            <a:r>
              <a:rPr lang="en-US" dirty="0">
                <a:highlight>
                  <a:srgbClr val="FFFF00"/>
                </a:highlight>
                <a:latin typeface="Consolas" panose="020B0609020204030204" pitchFamily="49" charset="0"/>
              </a:rPr>
              <a:t>4</a:t>
            </a:r>
            <a:r>
              <a:rPr lang="en-US" dirty="0">
                <a:latin typeface="Consolas" panose="020B0609020204030204" pitchFamily="49" charset="0"/>
              </a:rPr>
              <a:t>5</a:t>
            </a:r>
          </a:p>
          <a:p>
            <a:r>
              <a:rPr lang="en-US" dirty="0">
                <a:latin typeface="Consolas" panose="020B0609020204030204" pitchFamily="49" charset="0"/>
              </a:rPr>
              <a:t>4 | 0</a:t>
            </a:r>
          </a:p>
          <a:p>
            <a:pPr algn="ctr"/>
            <a:endParaRPr lang="en-US" dirty="0">
              <a:solidFill>
                <a:srgbClr val="0000FF"/>
              </a:solidFill>
            </a:endParaRPr>
          </a:p>
          <a:p>
            <a:pPr algn="ctr"/>
            <a:r>
              <a:rPr lang="en-US" dirty="0">
                <a:solidFill>
                  <a:srgbClr val="FF0000"/>
                </a:solidFill>
              </a:rPr>
              <a:t>Mean Guess: 30.5</a:t>
            </a:r>
          </a:p>
          <a:p>
            <a:pPr algn="ctr"/>
            <a:r>
              <a:rPr lang="en-US" dirty="0">
                <a:solidFill>
                  <a:srgbClr val="FF0000"/>
                </a:solidFill>
              </a:rPr>
              <a:t>Mean |Err| = 4.5</a:t>
            </a:r>
          </a:p>
          <a:p>
            <a:pPr algn="ctr"/>
            <a:endParaRPr lang="en-US" dirty="0">
              <a:solidFill>
                <a:srgbClr val="FF0000"/>
              </a:solidFill>
            </a:endParaRPr>
          </a:p>
          <a:p>
            <a:pPr algn="ctr"/>
            <a:endParaRPr lang="en-US" dirty="0">
              <a:solidFill>
                <a:srgbClr val="FF0000"/>
              </a:solidFill>
            </a:endParaRPr>
          </a:p>
          <a:p>
            <a:pPr algn="ctr"/>
            <a:r>
              <a:rPr lang="en-US" dirty="0">
                <a:solidFill>
                  <a:srgbClr val="7030A0"/>
                </a:solidFill>
              </a:rPr>
              <a:t>AI Guess = 28</a:t>
            </a:r>
          </a:p>
          <a:p>
            <a:pPr algn="ctr"/>
            <a:r>
              <a:rPr lang="en-US" dirty="0">
                <a:solidFill>
                  <a:srgbClr val="7030A0"/>
                </a:solidFill>
              </a:rPr>
              <a:t>AI |Err| = 6</a:t>
            </a:r>
          </a:p>
        </p:txBody>
      </p:sp>
      <p:pic>
        <p:nvPicPr>
          <p:cNvPr id="13" name="Picture 2" descr="http://www.gazettenet.com/csp/mediapool/sites/dt.common.streams.StreamServer.cls?STREAMOID=8$YaSEELCYtil7hvl9VzuM$daE2N3K4ZzOUsqbU5sYs7g5Crdt5ebC_xelTSDfARWCsjLu883Ygn4B49Lvm9bPe2QeMKQdVeZmXF$9l$4uCZ8QDXhaHEp3rvzXRJFdy0KqPHLoMevcTLo3h8xh70Y6N_U_CryOsw6FTOdKL_jpQ-&amp;CONTENTTYPE=image/jpeg">
            <a:extLst>
              <a:ext uri="{FF2B5EF4-FFF2-40B4-BE49-F238E27FC236}">
                <a16:creationId xmlns:a16="http://schemas.microsoft.com/office/drawing/2014/main" id="{B608B9F3-72F1-8511-EB66-792FEB61186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48714" y="8642"/>
            <a:ext cx="1906524" cy="2743200"/>
          </a:xfrm>
          <a:prstGeom prst="rect">
            <a:avLst/>
          </a:prstGeom>
          <a:noFill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4" name="Picture 2" descr="https://scontent-b-ord.xx.fbcdn.net/hphotos-xap1/t1.0-9/1795619_10152306099923977_7262188604397784485_n.jpg">
            <a:extLst>
              <a:ext uri="{FF2B5EF4-FFF2-40B4-BE49-F238E27FC236}">
                <a16:creationId xmlns:a16="http://schemas.microsoft.com/office/drawing/2014/main" id="{A4A95FF4-91DE-CD9D-644B-FA86BDE061E1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5092" r="28404"/>
          <a:stretch/>
        </p:blipFill>
        <p:spPr bwMode="auto">
          <a:xfrm>
            <a:off x="3337700" y="8642"/>
            <a:ext cx="2325063" cy="2743200"/>
          </a:xfrm>
          <a:prstGeom prst="rect">
            <a:avLst/>
          </a:prstGeom>
          <a:noFill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238DCF82-D554-946B-520E-2202A5B91D10}"/>
              </a:ext>
            </a:extLst>
          </p:cNvPr>
          <p:cNvSpPr txBox="1"/>
          <p:nvPr/>
        </p:nvSpPr>
        <p:spPr>
          <a:xfrm>
            <a:off x="1602254" y="2763433"/>
            <a:ext cx="903497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dirty="0"/>
              <a:t>#6 Age </a:t>
            </a:r>
            <a:r>
              <a:rPr lang="en-US" sz="2000" b="1" dirty="0"/>
              <a:t>74</a:t>
            </a:r>
            <a:r>
              <a:rPr lang="en-US" sz="2000" dirty="0"/>
              <a:t>                 #7 Age </a:t>
            </a:r>
            <a:r>
              <a:rPr lang="en-US" sz="2000" b="1" dirty="0"/>
              <a:t>44</a:t>
            </a:r>
            <a:r>
              <a:rPr lang="en-US" sz="2000" dirty="0"/>
              <a:t>                #8 Age </a:t>
            </a:r>
            <a:r>
              <a:rPr lang="en-US" sz="2000" b="1" dirty="0"/>
              <a:t>83</a:t>
            </a:r>
            <a:r>
              <a:rPr lang="en-US" sz="2000" dirty="0"/>
              <a:t>                #9 Age </a:t>
            </a:r>
            <a:r>
              <a:rPr lang="en-US" sz="2000" b="1" dirty="0"/>
              <a:t>24</a:t>
            </a:r>
            <a:r>
              <a:rPr lang="en-US" sz="2000" dirty="0"/>
              <a:t>              #10 Age </a:t>
            </a:r>
            <a:r>
              <a:rPr lang="en-US" sz="2000" b="1" dirty="0"/>
              <a:t>34</a:t>
            </a:r>
          </a:p>
        </p:txBody>
      </p:sp>
      <p:pic>
        <p:nvPicPr>
          <p:cNvPr id="16" name="Picture 2" descr="http://static2.stuff.co.nz/1334194607/613/6731613.jpg">
            <a:extLst>
              <a:ext uri="{FF2B5EF4-FFF2-40B4-BE49-F238E27FC236}">
                <a16:creationId xmlns:a16="http://schemas.microsoft.com/office/drawing/2014/main" id="{11FEE3A6-59D7-E326-D112-972BFA9B327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911545" y="8642"/>
            <a:ext cx="2280720" cy="2743200"/>
          </a:xfrm>
          <a:prstGeom prst="rect">
            <a:avLst/>
          </a:prstGeom>
          <a:noFill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7" name="Picture 4" descr="http://www.arteyvidachicago.com/wp-content/uploads/2013/09/Margo_Glantz.jpg">
            <a:extLst>
              <a:ext uri="{FF2B5EF4-FFF2-40B4-BE49-F238E27FC236}">
                <a16:creationId xmlns:a16="http://schemas.microsoft.com/office/drawing/2014/main" id="{580BB346-388B-428A-8B5E-BB783DBC0092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6584" r="6318"/>
          <a:stretch/>
        </p:blipFill>
        <p:spPr bwMode="auto">
          <a:xfrm>
            <a:off x="5208368" y="8642"/>
            <a:ext cx="1937957" cy="2743200"/>
          </a:xfrm>
          <a:prstGeom prst="rect">
            <a:avLst/>
          </a:prstGeom>
          <a:noFill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8" name="Picture 2" descr="http://www4.pictures.zimbio.com/gi/Bianca+Lawson+Riddick+Premieres+LA+Part+5+3K0OeeNcDdrl.jpg">
            <a:extLst>
              <a:ext uri="{FF2B5EF4-FFF2-40B4-BE49-F238E27FC236}">
                <a16:creationId xmlns:a16="http://schemas.microsoft.com/office/drawing/2014/main" id="{9B2C7D8A-7E71-F52E-2A2D-8EEAEC7AC233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023" r="7539"/>
          <a:stretch/>
        </p:blipFill>
        <p:spPr bwMode="auto">
          <a:xfrm>
            <a:off x="9087179" y="20233"/>
            <a:ext cx="1779374" cy="2743200"/>
          </a:xfrm>
          <a:prstGeom prst="rect">
            <a:avLst/>
          </a:prstGeom>
          <a:noFill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100351532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7E43FA1-262A-E6D5-6B7A-8A26E1EA095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2" descr="http://www.ctvnews.ca/polopoly_fs/1.1797177!/httpImage/image.jpg_gen/derivatives/landscape_960/image.jpg">
            <a:extLst>
              <a:ext uri="{FF2B5EF4-FFF2-40B4-BE49-F238E27FC236}">
                <a16:creationId xmlns:a16="http://schemas.microsoft.com/office/drawing/2014/main" id="{33347454-5C75-DEAE-377D-4B4D7BEC91C3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3829" r="28671"/>
          <a:stretch/>
        </p:blipFill>
        <p:spPr bwMode="auto">
          <a:xfrm>
            <a:off x="1536358" y="0"/>
            <a:ext cx="1828800" cy="2743200"/>
          </a:xfrm>
          <a:prstGeom prst="rect">
            <a:avLst/>
          </a:prstGeom>
          <a:noFill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5E5B60FA-E194-FAF1-E4E1-4FDC242E73E8}"/>
              </a:ext>
            </a:extLst>
          </p:cNvPr>
          <p:cNvSpPr txBox="1"/>
          <p:nvPr/>
        </p:nvSpPr>
        <p:spPr>
          <a:xfrm>
            <a:off x="1598138" y="2741382"/>
            <a:ext cx="903497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dirty="0"/>
              <a:t>#1 Age </a:t>
            </a:r>
            <a:r>
              <a:rPr lang="en-US" sz="2000" b="1" dirty="0"/>
              <a:t>21</a:t>
            </a:r>
            <a:r>
              <a:rPr lang="en-US" sz="2000" dirty="0"/>
              <a:t>                 #2 Age </a:t>
            </a:r>
            <a:r>
              <a:rPr lang="en-US" sz="2000" b="1" dirty="0"/>
              <a:t>64</a:t>
            </a:r>
            <a:r>
              <a:rPr lang="en-US" sz="2000" dirty="0"/>
              <a:t>                #3 Age </a:t>
            </a:r>
            <a:r>
              <a:rPr lang="en-US" sz="2000" b="1" dirty="0"/>
              <a:t>28</a:t>
            </a:r>
            <a:r>
              <a:rPr lang="en-US" sz="2000" dirty="0"/>
              <a:t>                #4 Age </a:t>
            </a:r>
            <a:r>
              <a:rPr lang="en-US" sz="2000" b="1" dirty="0"/>
              <a:t>14</a:t>
            </a:r>
            <a:r>
              <a:rPr lang="en-US" sz="2000" dirty="0"/>
              <a:t>               #5 Age </a:t>
            </a:r>
            <a:r>
              <a:rPr lang="en-US" sz="2000" b="1" dirty="0"/>
              <a:t>54</a:t>
            </a:r>
          </a:p>
        </p:txBody>
      </p:sp>
      <p:pic>
        <p:nvPicPr>
          <p:cNvPr id="6" name="Picture 2" descr="http://www.politicalappointeeproject.org/sites/default/files/Katherine_Archuleta_0.jpg">
            <a:extLst>
              <a:ext uri="{FF2B5EF4-FFF2-40B4-BE49-F238E27FC236}">
                <a16:creationId xmlns:a16="http://schemas.microsoft.com/office/drawing/2014/main" id="{88F09C91-B9F3-7306-BC7B-9046F02496F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65159" y="0"/>
            <a:ext cx="1958471" cy="2743200"/>
          </a:xfrm>
          <a:prstGeom prst="rect">
            <a:avLst/>
          </a:prstGeom>
          <a:noFill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" name="Picture 2" descr="http://assets.fox.com/shows/masterchef/photos/Bios---Season-5/elise_bio-1-bio-374x452.jpg">
            <a:extLst>
              <a:ext uri="{FF2B5EF4-FFF2-40B4-BE49-F238E27FC236}">
                <a16:creationId xmlns:a16="http://schemas.microsoft.com/office/drawing/2014/main" id="{AF7C1455-E5C4-C86D-3D37-88FACFBB833C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7127" r="5222" b="11391"/>
          <a:stretch/>
        </p:blipFill>
        <p:spPr bwMode="auto">
          <a:xfrm>
            <a:off x="5323630" y="0"/>
            <a:ext cx="1989123" cy="2743200"/>
          </a:xfrm>
          <a:prstGeom prst="rect">
            <a:avLst/>
          </a:prstGeom>
          <a:noFill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1" name="Picture 2" descr="https://fbcdn-sphotos-c-a.akamaihd.net/hphotos-ak-xpa1/t1.0-9/10447071_10202402956259619_4611738436486884027_n.jpg">
            <a:extLst>
              <a:ext uri="{FF2B5EF4-FFF2-40B4-BE49-F238E27FC236}">
                <a16:creationId xmlns:a16="http://schemas.microsoft.com/office/drawing/2014/main" id="{3F1BBDE9-3557-4BE0-9BDF-7EED1D577491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0694" t="8866" r="9389" b="45922"/>
          <a:stretch/>
        </p:blipFill>
        <p:spPr bwMode="auto">
          <a:xfrm>
            <a:off x="7294604" y="0"/>
            <a:ext cx="1816445" cy="2743200"/>
          </a:xfrm>
          <a:prstGeom prst="rect">
            <a:avLst/>
          </a:prstGeom>
          <a:noFill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2" name="Picture 2" descr="Mystery: Rosemary McGinn, a 54-year-old realtor, acted drunk for nearly two years due to a tumor that was producing too much insulin, causing her blood sugar levels to drop and starving her brain of fuel">
            <a:extLst>
              <a:ext uri="{FF2B5EF4-FFF2-40B4-BE49-F238E27FC236}">
                <a16:creationId xmlns:a16="http://schemas.microsoft.com/office/drawing/2014/main" id="{31F8CA39-5037-F8C4-7E32-7F17A4B979BD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545" r="37482" b="9824"/>
          <a:stretch/>
        </p:blipFill>
        <p:spPr bwMode="auto">
          <a:xfrm>
            <a:off x="9036909" y="0"/>
            <a:ext cx="1596207" cy="2743200"/>
          </a:xfrm>
          <a:prstGeom prst="rect">
            <a:avLst/>
          </a:prstGeom>
          <a:noFill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74E7A1FE-6A15-7EB8-A8D5-7F6861832730}"/>
              </a:ext>
            </a:extLst>
          </p:cNvPr>
          <p:cNvSpPr txBox="1"/>
          <p:nvPr/>
        </p:nvSpPr>
        <p:spPr>
          <a:xfrm>
            <a:off x="247284" y="3429000"/>
            <a:ext cx="1051891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Comic Sans MS" panose="030F0702030302020204" pitchFamily="66" charset="0"/>
              </a:rPr>
              <a:t>2025</a:t>
            </a:r>
          </a:p>
          <a:p>
            <a:r>
              <a:rPr lang="en-US" dirty="0">
                <a:latin typeface="Comic Sans MS" panose="030F0702030302020204" pitchFamily="66" charset="0"/>
              </a:rPr>
              <a:t>Group</a:t>
            </a:r>
            <a:br>
              <a:rPr lang="en-US" dirty="0">
                <a:latin typeface="Comic Sans MS" panose="030F0702030302020204" pitchFamily="66" charset="0"/>
              </a:rPr>
            </a:br>
            <a:r>
              <a:rPr lang="en-US" dirty="0">
                <a:latin typeface="Comic Sans MS" panose="030F0702030302020204" pitchFamily="66" charset="0"/>
              </a:rPr>
              <a:t>Guesses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2ECDF11-536A-4CB3-7A16-A70431AFC39F}"/>
              </a:ext>
            </a:extLst>
          </p:cNvPr>
          <p:cNvSpPr txBox="1"/>
          <p:nvPr/>
        </p:nvSpPr>
        <p:spPr>
          <a:xfrm>
            <a:off x="1443594" y="3255519"/>
            <a:ext cx="1995803" cy="286232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Consolas" panose="020B0609020204030204" pitchFamily="49" charset="0"/>
              </a:rPr>
              <a:t>2 | </a:t>
            </a:r>
            <a:r>
              <a:rPr lang="en-US" dirty="0">
                <a:highlight>
                  <a:srgbClr val="FFFF00"/>
                </a:highlight>
                <a:latin typeface="Consolas" panose="020B0609020204030204" pitchFamily="49" charset="0"/>
              </a:rPr>
              <a:t>1</a:t>
            </a:r>
            <a:r>
              <a:rPr lang="en-US" dirty="0">
                <a:latin typeface="Consolas" panose="020B0609020204030204" pitchFamily="49" charset="0"/>
              </a:rPr>
              <a:t>234</a:t>
            </a:r>
          </a:p>
          <a:p>
            <a:r>
              <a:rPr lang="en-US" dirty="0">
                <a:latin typeface="Consolas" panose="020B0609020204030204" pitchFamily="49" charset="0"/>
              </a:rPr>
              <a:t>2 | 557778</a:t>
            </a:r>
          </a:p>
          <a:p>
            <a:r>
              <a:rPr lang="en-US" dirty="0">
                <a:latin typeface="Consolas" panose="020B0609020204030204" pitchFamily="49" charset="0"/>
              </a:rPr>
              <a:t>3 | 1</a:t>
            </a:r>
          </a:p>
          <a:p>
            <a:endParaRPr lang="en-US" dirty="0"/>
          </a:p>
          <a:p>
            <a:pPr algn="ctr"/>
            <a:r>
              <a:rPr lang="en-US" dirty="0">
                <a:solidFill>
                  <a:srgbClr val="0000FF"/>
                </a:solidFill>
              </a:rPr>
              <a:t>Mean Guess: 25.5</a:t>
            </a:r>
          </a:p>
          <a:p>
            <a:pPr algn="ctr"/>
            <a:r>
              <a:rPr lang="en-US" dirty="0">
                <a:solidFill>
                  <a:srgbClr val="0000FF"/>
                </a:solidFill>
              </a:rPr>
              <a:t>Mean |Error| = 3.9</a:t>
            </a:r>
          </a:p>
          <a:p>
            <a:pPr algn="ctr"/>
            <a:endParaRPr lang="en-US" dirty="0">
              <a:solidFill>
                <a:srgbClr val="0000FF"/>
              </a:solidFill>
            </a:endParaRPr>
          </a:p>
          <a:p>
            <a:pPr algn="ctr"/>
            <a:endParaRPr lang="en-US" dirty="0">
              <a:solidFill>
                <a:srgbClr val="0000FF"/>
              </a:solidFill>
            </a:endParaRPr>
          </a:p>
          <a:p>
            <a:pPr algn="ctr"/>
            <a:r>
              <a:rPr lang="en-US" dirty="0">
                <a:solidFill>
                  <a:srgbClr val="7030A0"/>
                </a:solidFill>
              </a:rPr>
              <a:t>AI  Guess = 26</a:t>
            </a:r>
          </a:p>
          <a:p>
            <a:pPr algn="ctr"/>
            <a:r>
              <a:rPr lang="en-US" dirty="0">
                <a:solidFill>
                  <a:srgbClr val="7030A0"/>
                </a:solidFill>
              </a:rPr>
              <a:t>AI |Error| = 5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9A7BB32-5E60-49AA-3087-0E73314F81FB}"/>
              </a:ext>
            </a:extLst>
          </p:cNvPr>
          <p:cNvSpPr txBox="1"/>
          <p:nvPr/>
        </p:nvSpPr>
        <p:spPr>
          <a:xfrm>
            <a:off x="3621075" y="3255519"/>
            <a:ext cx="1907061" cy="34163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Consolas" panose="020B0609020204030204" pitchFamily="49" charset="0"/>
              </a:rPr>
              <a:t>4 | 4</a:t>
            </a:r>
          </a:p>
          <a:p>
            <a:r>
              <a:rPr lang="en-US" dirty="0">
                <a:latin typeface="Consolas" panose="020B0609020204030204" pitchFamily="49" charset="0"/>
              </a:rPr>
              <a:t>4 | 5</a:t>
            </a:r>
          </a:p>
          <a:p>
            <a:r>
              <a:rPr lang="en-US" dirty="0">
                <a:latin typeface="Consolas" panose="020B0609020204030204" pitchFamily="49" charset="0"/>
              </a:rPr>
              <a:t>5 | 2233</a:t>
            </a:r>
          </a:p>
          <a:p>
            <a:r>
              <a:rPr lang="en-US" dirty="0">
                <a:latin typeface="Consolas" panose="020B0609020204030204" pitchFamily="49" charset="0"/>
              </a:rPr>
              <a:t>5 | 566</a:t>
            </a:r>
          </a:p>
          <a:p>
            <a:r>
              <a:rPr lang="en-US" dirty="0">
                <a:latin typeface="Consolas" panose="020B0609020204030204" pitchFamily="49" charset="0"/>
              </a:rPr>
              <a:t>6 | 11</a:t>
            </a:r>
          </a:p>
          <a:p>
            <a:endParaRPr lang="en-US" dirty="0">
              <a:latin typeface="Consolas" panose="020B0609020204030204" pitchFamily="49" charset="0"/>
            </a:endParaRPr>
          </a:p>
          <a:p>
            <a:pPr algn="ctr"/>
            <a:r>
              <a:rPr lang="en-US" dirty="0">
                <a:solidFill>
                  <a:srgbClr val="FF0000"/>
                </a:solidFill>
              </a:rPr>
              <a:t>Mean Guess: 53.5</a:t>
            </a:r>
          </a:p>
          <a:p>
            <a:pPr algn="ctr"/>
            <a:r>
              <a:rPr lang="en-US" dirty="0">
                <a:solidFill>
                  <a:srgbClr val="FF0000"/>
                </a:solidFill>
              </a:rPr>
              <a:t>Mean |Err| = 10.5</a:t>
            </a:r>
          </a:p>
          <a:p>
            <a:pPr algn="ctr"/>
            <a:endParaRPr lang="en-US" dirty="0">
              <a:solidFill>
                <a:srgbClr val="FF0000"/>
              </a:solidFill>
            </a:endParaRPr>
          </a:p>
          <a:p>
            <a:pPr algn="ctr"/>
            <a:endParaRPr lang="en-US" dirty="0">
              <a:solidFill>
                <a:srgbClr val="FF0000"/>
              </a:solidFill>
            </a:endParaRPr>
          </a:p>
          <a:p>
            <a:pPr algn="ctr"/>
            <a:r>
              <a:rPr lang="en-US" dirty="0">
                <a:solidFill>
                  <a:srgbClr val="7030A0"/>
                </a:solidFill>
              </a:rPr>
              <a:t>AI Guess = 55</a:t>
            </a:r>
          </a:p>
          <a:p>
            <a:pPr algn="ctr"/>
            <a:r>
              <a:rPr lang="en-US" dirty="0">
                <a:solidFill>
                  <a:srgbClr val="7030A0"/>
                </a:solidFill>
              </a:rPr>
              <a:t>AI |Err| = 9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24B3C9C-EE13-201F-F505-EEA88108CEF3}"/>
              </a:ext>
            </a:extLst>
          </p:cNvPr>
          <p:cNvSpPr txBox="1"/>
          <p:nvPr/>
        </p:nvSpPr>
        <p:spPr>
          <a:xfrm>
            <a:off x="5487929" y="3255519"/>
            <a:ext cx="1886222" cy="31393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Consolas" panose="020B0609020204030204" pitchFamily="49" charset="0"/>
              </a:rPr>
              <a:t>2 | 4</a:t>
            </a:r>
          </a:p>
          <a:p>
            <a:r>
              <a:rPr lang="en-US" dirty="0">
                <a:latin typeface="Consolas" panose="020B0609020204030204" pitchFamily="49" charset="0"/>
              </a:rPr>
              <a:t>2 | </a:t>
            </a:r>
            <a:r>
              <a:rPr lang="en-US" dirty="0">
                <a:highlight>
                  <a:srgbClr val="FFFF00"/>
                </a:highlight>
                <a:latin typeface="Consolas" panose="020B0609020204030204" pitchFamily="49" charset="0"/>
              </a:rPr>
              <a:t>88</a:t>
            </a:r>
            <a:r>
              <a:rPr lang="en-US" dirty="0">
                <a:latin typeface="Consolas" panose="020B0609020204030204" pitchFamily="49" charset="0"/>
              </a:rPr>
              <a:t>9</a:t>
            </a:r>
            <a:endParaRPr lang="en-US" dirty="0">
              <a:highlight>
                <a:srgbClr val="FFFF00"/>
              </a:highlight>
              <a:latin typeface="Consolas" panose="020B0609020204030204" pitchFamily="49" charset="0"/>
            </a:endParaRPr>
          </a:p>
          <a:p>
            <a:r>
              <a:rPr lang="en-US" dirty="0">
                <a:latin typeface="Consolas" panose="020B0609020204030204" pitchFamily="49" charset="0"/>
              </a:rPr>
              <a:t>3 | 00034</a:t>
            </a:r>
          </a:p>
          <a:p>
            <a:r>
              <a:rPr lang="en-US" dirty="0">
                <a:latin typeface="Consolas" panose="020B0609020204030204" pitchFamily="49" charset="0"/>
              </a:rPr>
              <a:t>3 | 6</a:t>
            </a:r>
          </a:p>
          <a:p>
            <a:pPr algn="ctr"/>
            <a:endParaRPr lang="en-US" dirty="0">
              <a:solidFill>
                <a:srgbClr val="0000FF"/>
              </a:solidFill>
            </a:endParaRPr>
          </a:p>
          <a:p>
            <a:pPr algn="ctr"/>
            <a:r>
              <a:rPr lang="en-US" dirty="0">
                <a:solidFill>
                  <a:srgbClr val="0000FF"/>
                </a:solidFill>
              </a:rPr>
              <a:t>Mean Guess: 29.9</a:t>
            </a:r>
          </a:p>
          <a:p>
            <a:pPr algn="ctr"/>
            <a:r>
              <a:rPr lang="en-US" dirty="0">
                <a:solidFill>
                  <a:srgbClr val="0000FF"/>
                </a:solidFill>
              </a:rPr>
              <a:t>Mean |Err| = 3.0</a:t>
            </a:r>
          </a:p>
          <a:p>
            <a:pPr algn="ctr"/>
            <a:endParaRPr lang="en-US" dirty="0">
              <a:solidFill>
                <a:srgbClr val="0000FF"/>
              </a:solidFill>
            </a:endParaRPr>
          </a:p>
          <a:p>
            <a:pPr algn="ctr"/>
            <a:endParaRPr lang="en-US" dirty="0">
              <a:solidFill>
                <a:srgbClr val="0000FF"/>
              </a:solidFill>
            </a:endParaRPr>
          </a:p>
          <a:p>
            <a:pPr algn="ctr"/>
            <a:r>
              <a:rPr lang="en-US" dirty="0">
                <a:solidFill>
                  <a:srgbClr val="7030A0"/>
                </a:solidFill>
              </a:rPr>
              <a:t>AI Guess = 23</a:t>
            </a:r>
          </a:p>
          <a:p>
            <a:pPr algn="ctr"/>
            <a:r>
              <a:rPr lang="en-US" dirty="0">
                <a:solidFill>
                  <a:srgbClr val="7030A0"/>
                </a:solidFill>
              </a:rPr>
              <a:t>AI |Err| = 5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D37708E9-B623-AC17-5A58-70FF0AE92972}"/>
              </a:ext>
            </a:extLst>
          </p:cNvPr>
          <p:cNvSpPr txBox="1"/>
          <p:nvPr/>
        </p:nvSpPr>
        <p:spPr>
          <a:xfrm>
            <a:off x="7382866" y="3255519"/>
            <a:ext cx="1885453" cy="286232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Consolas" panose="020B0609020204030204" pitchFamily="49" charset="0"/>
              </a:rPr>
              <a:t>1 | 33</a:t>
            </a:r>
            <a:r>
              <a:rPr lang="en-US" dirty="0">
                <a:highlight>
                  <a:srgbClr val="FFFF00"/>
                </a:highlight>
                <a:latin typeface="Consolas" panose="020B0609020204030204" pitchFamily="49" charset="0"/>
              </a:rPr>
              <a:t>44</a:t>
            </a:r>
          </a:p>
          <a:p>
            <a:r>
              <a:rPr lang="en-US" dirty="0">
                <a:latin typeface="Consolas" panose="020B0609020204030204" pitchFamily="49" charset="0"/>
              </a:rPr>
              <a:t>1 | 5555679</a:t>
            </a:r>
          </a:p>
          <a:p>
            <a:endParaRPr lang="en-US" dirty="0">
              <a:latin typeface="Consolas" panose="020B0609020204030204" pitchFamily="49" charset="0"/>
            </a:endParaRPr>
          </a:p>
          <a:p>
            <a:pPr algn="ctr"/>
            <a:endParaRPr lang="en-US" dirty="0">
              <a:solidFill>
                <a:srgbClr val="0000FF"/>
              </a:solidFill>
            </a:endParaRPr>
          </a:p>
          <a:p>
            <a:pPr algn="ctr"/>
            <a:r>
              <a:rPr lang="en-US" dirty="0">
                <a:solidFill>
                  <a:srgbClr val="0000FF"/>
                </a:solidFill>
              </a:rPr>
              <a:t>Mean Guess: 15.1</a:t>
            </a:r>
          </a:p>
          <a:p>
            <a:pPr algn="ctr"/>
            <a:r>
              <a:rPr lang="en-US" dirty="0">
                <a:solidFill>
                  <a:srgbClr val="0000FF"/>
                </a:solidFill>
              </a:rPr>
              <a:t>Mean |Err| = 1.1</a:t>
            </a:r>
          </a:p>
          <a:p>
            <a:pPr algn="ctr"/>
            <a:endParaRPr lang="en-US" dirty="0">
              <a:solidFill>
                <a:srgbClr val="0000FF"/>
              </a:solidFill>
            </a:endParaRPr>
          </a:p>
          <a:p>
            <a:pPr algn="ctr"/>
            <a:endParaRPr lang="en-US" dirty="0">
              <a:solidFill>
                <a:srgbClr val="0000FF"/>
              </a:solidFill>
            </a:endParaRPr>
          </a:p>
          <a:p>
            <a:pPr algn="ctr"/>
            <a:r>
              <a:rPr lang="en-US" dirty="0">
                <a:solidFill>
                  <a:srgbClr val="7030A0"/>
                </a:solidFill>
              </a:rPr>
              <a:t>AI Guess = 21</a:t>
            </a:r>
          </a:p>
          <a:p>
            <a:pPr algn="ctr"/>
            <a:r>
              <a:rPr lang="en-US" dirty="0">
                <a:solidFill>
                  <a:srgbClr val="7030A0"/>
                </a:solidFill>
              </a:rPr>
              <a:t>AI |Err| = 7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48451210-67EE-8D4F-2EAA-2B18DEF57510}"/>
              </a:ext>
            </a:extLst>
          </p:cNvPr>
          <p:cNvSpPr txBox="1"/>
          <p:nvPr/>
        </p:nvSpPr>
        <p:spPr>
          <a:xfrm>
            <a:off x="9415150" y="3255519"/>
            <a:ext cx="1939955" cy="34163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Consolas" panose="020B0609020204030204" pitchFamily="49" charset="0"/>
              </a:rPr>
              <a:t>4 | 8</a:t>
            </a:r>
          </a:p>
          <a:p>
            <a:r>
              <a:rPr lang="en-US" dirty="0">
                <a:latin typeface="Consolas" panose="020B0609020204030204" pitchFamily="49" charset="0"/>
              </a:rPr>
              <a:t>5 | </a:t>
            </a:r>
          </a:p>
          <a:p>
            <a:r>
              <a:rPr lang="en-US" dirty="0">
                <a:latin typeface="Consolas" panose="020B0609020204030204" pitchFamily="49" charset="0"/>
              </a:rPr>
              <a:t>5 | 89</a:t>
            </a:r>
          </a:p>
          <a:p>
            <a:r>
              <a:rPr lang="en-US" dirty="0">
                <a:latin typeface="Consolas" panose="020B0609020204030204" pitchFamily="49" charset="0"/>
              </a:rPr>
              <a:t>6 | 0</a:t>
            </a:r>
          </a:p>
          <a:p>
            <a:r>
              <a:rPr lang="en-US" dirty="0">
                <a:latin typeface="Consolas" panose="020B0609020204030204" pitchFamily="49" charset="0"/>
              </a:rPr>
              <a:t>6 | 555799</a:t>
            </a:r>
          </a:p>
          <a:p>
            <a:r>
              <a:rPr lang="en-US" dirty="0">
                <a:latin typeface="Consolas" panose="020B0609020204030204" pitchFamily="49" charset="0"/>
              </a:rPr>
              <a:t>7 | 0</a:t>
            </a:r>
          </a:p>
          <a:p>
            <a:endParaRPr lang="en-US" dirty="0">
              <a:latin typeface="Consolas" panose="020B0609020204030204" pitchFamily="49" charset="0"/>
            </a:endParaRPr>
          </a:p>
          <a:p>
            <a:pPr algn="ctr"/>
            <a:r>
              <a:rPr lang="en-US" dirty="0">
                <a:solidFill>
                  <a:srgbClr val="0000FF"/>
                </a:solidFill>
              </a:rPr>
              <a:t>Mean Guess: 63.2</a:t>
            </a:r>
          </a:p>
          <a:p>
            <a:pPr algn="ctr"/>
            <a:r>
              <a:rPr lang="en-US" dirty="0">
                <a:solidFill>
                  <a:srgbClr val="0000FF"/>
                </a:solidFill>
              </a:rPr>
              <a:t>Mean |Err| = 10.7</a:t>
            </a:r>
          </a:p>
          <a:p>
            <a:pPr algn="ctr"/>
            <a:endParaRPr lang="en-US" dirty="0">
              <a:solidFill>
                <a:srgbClr val="0000FF"/>
              </a:solidFill>
            </a:endParaRPr>
          </a:p>
          <a:p>
            <a:pPr algn="ctr"/>
            <a:r>
              <a:rPr lang="en-US" dirty="0">
                <a:solidFill>
                  <a:srgbClr val="7030A0"/>
                </a:solidFill>
              </a:rPr>
              <a:t>AI Guess = 45</a:t>
            </a:r>
          </a:p>
          <a:p>
            <a:pPr algn="ctr"/>
            <a:r>
              <a:rPr lang="en-US" dirty="0">
                <a:solidFill>
                  <a:srgbClr val="7030A0"/>
                </a:solidFill>
              </a:rPr>
              <a:t>AI |Err| = 9</a:t>
            </a:r>
          </a:p>
        </p:txBody>
      </p:sp>
    </p:spTree>
    <p:extLst>
      <p:ext uri="{BB962C8B-B14F-4D97-AF65-F5344CB8AC3E}">
        <p14:creationId xmlns:p14="http://schemas.microsoft.com/office/powerpoint/2010/main" val="2010932993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652D981-D41F-7253-3F0F-193DF494B43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F9235F1A-FCFE-18F6-FA82-B8A67E1E209E}"/>
              </a:ext>
            </a:extLst>
          </p:cNvPr>
          <p:cNvSpPr txBox="1"/>
          <p:nvPr/>
        </p:nvSpPr>
        <p:spPr>
          <a:xfrm>
            <a:off x="247284" y="3429000"/>
            <a:ext cx="1051891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Comic Sans MS" panose="030F0702030302020204" pitchFamily="66" charset="0"/>
              </a:rPr>
              <a:t>2025</a:t>
            </a:r>
          </a:p>
          <a:p>
            <a:r>
              <a:rPr lang="en-US" dirty="0">
                <a:latin typeface="Comic Sans MS" panose="030F0702030302020204" pitchFamily="66" charset="0"/>
              </a:rPr>
              <a:t>Group</a:t>
            </a:r>
            <a:br>
              <a:rPr lang="en-US" dirty="0">
                <a:latin typeface="Comic Sans MS" panose="030F0702030302020204" pitchFamily="66" charset="0"/>
              </a:rPr>
            </a:br>
            <a:r>
              <a:rPr lang="en-US" dirty="0">
                <a:latin typeface="Comic Sans MS" panose="030F0702030302020204" pitchFamily="66" charset="0"/>
              </a:rPr>
              <a:t>Guesses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180742C-383A-DF96-C1FE-F0ED04050955}"/>
              </a:ext>
            </a:extLst>
          </p:cNvPr>
          <p:cNvSpPr txBox="1"/>
          <p:nvPr/>
        </p:nvSpPr>
        <p:spPr>
          <a:xfrm>
            <a:off x="1517956" y="3255519"/>
            <a:ext cx="1994970" cy="286232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Consolas" panose="020B0609020204030204" pitchFamily="49" charset="0"/>
              </a:rPr>
              <a:t>6 | 5888</a:t>
            </a:r>
          </a:p>
          <a:p>
            <a:r>
              <a:rPr lang="en-US" dirty="0">
                <a:latin typeface="Consolas" panose="020B0609020204030204" pitchFamily="49" charset="0"/>
              </a:rPr>
              <a:t>7 | 02</a:t>
            </a:r>
            <a:r>
              <a:rPr lang="en-US" dirty="0">
                <a:highlight>
                  <a:srgbClr val="FFFF00"/>
                </a:highlight>
                <a:latin typeface="Consolas" panose="020B0609020204030204" pitchFamily="49" charset="0"/>
              </a:rPr>
              <a:t>4</a:t>
            </a:r>
          </a:p>
          <a:p>
            <a:r>
              <a:rPr lang="en-US" dirty="0">
                <a:latin typeface="Consolas" panose="020B0609020204030204" pitchFamily="49" charset="0"/>
              </a:rPr>
              <a:t>7 | 5688</a:t>
            </a:r>
            <a:endParaRPr lang="en-US" dirty="0"/>
          </a:p>
          <a:p>
            <a:endParaRPr lang="en-US" dirty="0"/>
          </a:p>
          <a:p>
            <a:pPr algn="ctr"/>
            <a:r>
              <a:rPr lang="en-US" dirty="0">
                <a:solidFill>
                  <a:srgbClr val="FF0000"/>
                </a:solidFill>
              </a:rPr>
              <a:t>Mean Guess: 72.0</a:t>
            </a:r>
          </a:p>
          <a:p>
            <a:pPr algn="ctr"/>
            <a:r>
              <a:rPr lang="en-US" dirty="0">
                <a:solidFill>
                  <a:srgbClr val="FF0000"/>
                </a:solidFill>
              </a:rPr>
              <a:t>Mean |Error| = 3.8</a:t>
            </a:r>
          </a:p>
          <a:p>
            <a:pPr algn="ctr"/>
            <a:endParaRPr lang="en-US" dirty="0">
              <a:solidFill>
                <a:srgbClr val="FF0000"/>
              </a:solidFill>
            </a:endParaRPr>
          </a:p>
          <a:p>
            <a:pPr algn="ctr"/>
            <a:endParaRPr lang="en-US" dirty="0">
              <a:solidFill>
                <a:srgbClr val="FF0000"/>
              </a:solidFill>
            </a:endParaRPr>
          </a:p>
          <a:p>
            <a:pPr algn="ctr"/>
            <a:r>
              <a:rPr lang="en-US" dirty="0">
                <a:solidFill>
                  <a:srgbClr val="7030A0"/>
                </a:solidFill>
              </a:rPr>
              <a:t>AI Guess = 62</a:t>
            </a:r>
          </a:p>
          <a:p>
            <a:pPr algn="ctr"/>
            <a:r>
              <a:rPr lang="en-US" dirty="0">
                <a:solidFill>
                  <a:srgbClr val="7030A0"/>
                </a:solidFill>
              </a:rPr>
              <a:t>AI |Error| = 12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8EAD962-F59D-EBD4-C540-03212CEBBA13}"/>
              </a:ext>
            </a:extLst>
          </p:cNvPr>
          <p:cNvSpPr txBox="1"/>
          <p:nvPr/>
        </p:nvSpPr>
        <p:spPr>
          <a:xfrm>
            <a:off x="3621075" y="3255519"/>
            <a:ext cx="1886222" cy="31393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Consolas" panose="020B0609020204030204" pitchFamily="49" charset="0"/>
              </a:rPr>
              <a:t>3 | 8</a:t>
            </a:r>
          </a:p>
          <a:p>
            <a:r>
              <a:rPr lang="en-US" dirty="0">
                <a:latin typeface="Consolas" panose="020B0609020204030204" pitchFamily="49" charset="0"/>
              </a:rPr>
              <a:t>4 | 023</a:t>
            </a:r>
          </a:p>
          <a:p>
            <a:r>
              <a:rPr lang="en-US" dirty="0">
                <a:latin typeface="Consolas" panose="020B0609020204030204" pitchFamily="49" charset="0"/>
              </a:rPr>
              <a:t>4 | 556689</a:t>
            </a:r>
          </a:p>
          <a:p>
            <a:r>
              <a:rPr lang="en-US" dirty="0">
                <a:latin typeface="Consolas" panose="020B0609020204030204" pitchFamily="49" charset="0"/>
              </a:rPr>
              <a:t>5 | 1</a:t>
            </a:r>
          </a:p>
          <a:p>
            <a:pPr algn="ctr"/>
            <a:endParaRPr lang="en-US" dirty="0">
              <a:solidFill>
                <a:srgbClr val="0000FF"/>
              </a:solidFill>
            </a:endParaRPr>
          </a:p>
          <a:p>
            <a:pPr algn="ctr"/>
            <a:r>
              <a:rPr lang="en-US" dirty="0">
                <a:solidFill>
                  <a:srgbClr val="0000FF"/>
                </a:solidFill>
              </a:rPr>
              <a:t>Mean Guess: 44.8</a:t>
            </a:r>
          </a:p>
          <a:p>
            <a:pPr algn="ctr"/>
            <a:r>
              <a:rPr lang="en-US" dirty="0">
                <a:solidFill>
                  <a:srgbClr val="0000FF"/>
                </a:solidFill>
              </a:rPr>
              <a:t>Mean |Err| = 3.0</a:t>
            </a:r>
          </a:p>
          <a:p>
            <a:pPr algn="ctr"/>
            <a:endParaRPr lang="en-US" dirty="0">
              <a:solidFill>
                <a:srgbClr val="0000FF"/>
              </a:solidFill>
            </a:endParaRPr>
          </a:p>
          <a:p>
            <a:pPr algn="ctr"/>
            <a:endParaRPr lang="en-US" dirty="0">
              <a:solidFill>
                <a:srgbClr val="0000FF"/>
              </a:solidFill>
            </a:endParaRPr>
          </a:p>
          <a:p>
            <a:pPr algn="ctr"/>
            <a:r>
              <a:rPr lang="en-US" dirty="0">
                <a:solidFill>
                  <a:srgbClr val="7030A0"/>
                </a:solidFill>
              </a:rPr>
              <a:t>AI Guess = 32</a:t>
            </a:r>
          </a:p>
          <a:p>
            <a:pPr algn="ctr"/>
            <a:r>
              <a:rPr lang="en-US" dirty="0">
                <a:solidFill>
                  <a:srgbClr val="7030A0"/>
                </a:solidFill>
              </a:rPr>
              <a:t>AI |Err| = 12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FBD83C8-8B3F-F300-7080-20E1F2C7D83C}"/>
              </a:ext>
            </a:extLst>
          </p:cNvPr>
          <p:cNvSpPr txBox="1"/>
          <p:nvPr/>
        </p:nvSpPr>
        <p:spPr>
          <a:xfrm>
            <a:off x="5487929" y="3255519"/>
            <a:ext cx="1885453" cy="31393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Consolas" panose="020B0609020204030204" pitchFamily="49" charset="0"/>
              </a:rPr>
              <a:t>6 | 58</a:t>
            </a:r>
          </a:p>
          <a:p>
            <a:r>
              <a:rPr lang="en-US" dirty="0">
                <a:latin typeface="Consolas" panose="020B0609020204030204" pitchFamily="49" charset="0"/>
              </a:rPr>
              <a:t>7 | 1</a:t>
            </a:r>
          </a:p>
          <a:p>
            <a:r>
              <a:rPr lang="en-US" dirty="0">
                <a:latin typeface="Consolas" panose="020B0609020204030204" pitchFamily="49" charset="0"/>
              </a:rPr>
              <a:t>7 | 55</a:t>
            </a:r>
          </a:p>
          <a:p>
            <a:r>
              <a:rPr lang="en-US" dirty="0">
                <a:latin typeface="Consolas" panose="020B0609020204030204" pitchFamily="49" charset="0"/>
              </a:rPr>
              <a:t>8 | 1244</a:t>
            </a:r>
          </a:p>
          <a:p>
            <a:r>
              <a:rPr lang="en-US" dirty="0">
                <a:latin typeface="Consolas" panose="020B0609020204030204" pitchFamily="49" charset="0"/>
              </a:rPr>
              <a:t>8 | 67</a:t>
            </a:r>
          </a:p>
          <a:p>
            <a:pPr algn="ctr"/>
            <a:endParaRPr lang="en-US" dirty="0">
              <a:solidFill>
                <a:srgbClr val="0000FF"/>
              </a:solidFill>
            </a:endParaRPr>
          </a:p>
          <a:p>
            <a:pPr algn="ctr"/>
            <a:r>
              <a:rPr lang="en-US" dirty="0">
                <a:solidFill>
                  <a:srgbClr val="FF0000"/>
                </a:solidFill>
              </a:rPr>
              <a:t>Mean Guess: 78.0</a:t>
            </a:r>
          </a:p>
          <a:p>
            <a:pPr algn="ctr"/>
            <a:r>
              <a:rPr lang="en-US" dirty="0">
                <a:solidFill>
                  <a:srgbClr val="FF0000"/>
                </a:solidFill>
              </a:rPr>
              <a:t>Mean |Err| = 6.1</a:t>
            </a:r>
          </a:p>
          <a:p>
            <a:pPr algn="ctr"/>
            <a:endParaRPr lang="en-US" dirty="0">
              <a:solidFill>
                <a:srgbClr val="FF0000"/>
              </a:solidFill>
            </a:endParaRPr>
          </a:p>
          <a:p>
            <a:pPr algn="ctr"/>
            <a:r>
              <a:rPr lang="en-US" dirty="0">
                <a:solidFill>
                  <a:srgbClr val="7030A0"/>
                </a:solidFill>
              </a:rPr>
              <a:t>AI Guess = 69</a:t>
            </a:r>
          </a:p>
          <a:p>
            <a:pPr algn="ctr"/>
            <a:r>
              <a:rPr lang="en-US" dirty="0">
                <a:solidFill>
                  <a:srgbClr val="7030A0"/>
                </a:solidFill>
              </a:rPr>
              <a:t>AI |Err| = 14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3DBCF695-2138-374E-5EA9-F4CF739410E3}"/>
              </a:ext>
            </a:extLst>
          </p:cNvPr>
          <p:cNvSpPr txBox="1"/>
          <p:nvPr/>
        </p:nvSpPr>
        <p:spPr>
          <a:xfrm>
            <a:off x="7382866" y="3255519"/>
            <a:ext cx="1886222" cy="31393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Consolas" panose="020B0609020204030204" pitchFamily="49" charset="0"/>
              </a:rPr>
              <a:t>2 | </a:t>
            </a:r>
            <a:r>
              <a:rPr lang="en-US" dirty="0">
                <a:highlight>
                  <a:srgbClr val="FFFF00"/>
                </a:highlight>
                <a:latin typeface="Consolas" panose="020B0609020204030204" pitchFamily="49" charset="0"/>
              </a:rPr>
              <a:t>4</a:t>
            </a:r>
          </a:p>
          <a:p>
            <a:r>
              <a:rPr lang="en-US" dirty="0">
                <a:latin typeface="Consolas" panose="020B0609020204030204" pitchFamily="49" charset="0"/>
              </a:rPr>
              <a:t>2 | 7</a:t>
            </a:r>
          </a:p>
          <a:p>
            <a:r>
              <a:rPr lang="en-US" dirty="0">
                <a:latin typeface="Consolas" panose="020B0609020204030204" pitchFamily="49" charset="0"/>
              </a:rPr>
              <a:t>3 | 012344</a:t>
            </a:r>
          </a:p>
          <a:p>
            <a:r>
              <a:rPr lang="en-US" dirty="0">
                <a:latin typeface="Consolas" panose="020B0609020204030204" pitchFamily="49" charset="0"/>
              </a:rPr>
              <a:t>3 | 57</a:t>
            </a:r>
          </a:p>
          <a:p>
            <a:r>
              <a:rPr lang="en-US" dirty="0">
                <a:latin typeface="Consolas" panose="020B0609020204030204" pitchFamily="49" charset="0"/>
              </a:rPr>
              <a:t>4 | 0</a:t>
            </a:r>
          </a:p>
          <a:p>
            <a:pPr algn="ctr"/>
            <a:endParaRPr lang="en-US" dirty="0">
              <a:solidFill>
                <a:srgbClr val="0000FF"/>
              </a:solidFill>
            </a:endParaRPr>
          </a:p>
          <a:p>
            <a:pPr algn="ctr"/>
            <a:r>
              <a:rPr lang="en-US" dirty="0">
                <a:solidFill>
                  <a:srgbClr val="0000FF"/>
                </a:solidFill>
              </a:rPr>
              <a:t>Mean Guess: 32.5</a:t>
            </a:r>
          </a:p>
          <a:p>
            <a:pPr algn="ctr"/>
            <a:r>
              <a:rPr lang="en-US" dirty="0">
                <a:solidFill>
                  <a:srgbClr val="0000FF"/>
                </a:solidFill>
              </a:rPr>
              <a:t>Mean |Err| = 9.3</a:t>
            </a:r>
          </a:p>
          <a:p>
            <a:pPr algn="ctr"/>
            <a:endParaRPr lang="en-US" dirty="0">
              <a:solidFill>
                <a:srgbClr val="0000FF"/>
              </a:solidFill>
            </a:endParaRPr>
          </a:p>
          <a:p>
            <a:pPr algn="ctr"/>
            <a:r>
              <a:rPr lang="en-US" dirty="0">
                <a:solidFill>
                  <a:srgbClr val="7030A0"/>
                </a:solidFill>
              </a:rPr>
              <a:t>AI Guess = 29</a:t>
            </a:r>
          </a:p>
          <a:p>
            <a:pPr algn="ctr"/>
            <a:r>
              <a:rPr lang="en-US" dirty="0">
                <a:solidFill>
                  <a:srgbClr val="7030A0"/>
                </a:solidFill>
              </a:rPr>
              <a:t>AI |Err| = 5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3FCD2A59-6B5A-9EDD-5B76-AC4070C19244}"/>
              </a:ext>
            </a:extLst>
          </p:cNvPr>
          <p:cNvSpPr txBox="1"/>
          <p:nvPr/>
        </p:nvSpPr>
        <p:spPr>
          <a:xfrm>
            <a:off x="9415150" y="3255519"/>
            <a:ext cx="1928733" cy="31393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Consolas" panose="020B0609020204030204" pitchFamily="49" charset="0"/>
              </a:rPr>
              <a:t>2 | 5667788</a:t>
            </a:r>
          </a:p>
          <a:p>
            <a:r>
              <a:rPr lang="en-US" dirty="0">
                <a:latin typeface="Consolas" panose="020B0609020204030204" pitchFamily="49" charset="0"/>
              </a:rPr>
              <a:t>3 | 023</a:t>
            </a:r>
          </a:p>
          <a:p>
            <a:r>
              <a:rPr lang="en-US" dirty="0">
                <a:latin typeface="Consolas" panose="020B0609020204030204" pitchFamily="49" charset="0"/>
              </a:rPr>
              <a:t>3 | </a:t>
            </a:r>
          </a:p>
          <a:p>
            <a:r>
              <a:rPr lang="en-US" dirty="0">
                <a:latin typeface="Consolas" panose="020B0609020204030204" pitchFamily="49" charset="0"/>
              </a:rPr>
              <a:t>4 | 3</a:t>
            </a:r>
          </a:p>
          <a:p>
            <a:pPr algn="ctr"/>
            <a:endParaRPr lang="en-US" dirty="0">
              <a:solidFill>
                <a:srgbClr val="0000FF"/>
              </a:solidFill>
            </a:endParaRPr>
          </a:p>
          <a:p>
            <a:pPr algn="ctr"/>
            <a:r>
              <a:rPr lang="en-US" dirty="0">
                <a:solidFill>
                  <a:srgbClr val="FF0000"/>
                </a:solidFill>
              </a:rPr>
              <a:t>Mean Guess: 29.5</a:t>
            </a:r>
          </a:p>
          <a:p>
            <a:pPr algn="ctr"/>
            <a:r>
              <a:rPr lang="en-US" dirty="0">
                <a:solidFill>
                  <a:srgbClr val="FF0000"/>
                </a:solidFill>
              </a:rPr>
              <a:t>Mean |Err| = 5.9</a:t>
            </a:r>
          </a:p>
          <a:p>
            <a:pPr algn="ctr"/>
            <a:endParaRPr lang="en-US" dirty="0">
              <a:solidFill>
                <a:srgbClr val="FF0000"/>
              </a:solidFill>
            </a:endParaRPr>
          </a:p>
          <a:p>
            <a:pPr algn="ctr"/>
            <a:endParaRPr lang="en-US" dirty="0">
              <a:solidFill>
                <a:srgbClr val="FF0000"/>
              </a:solidFill>
            </a:endParaRPr>
          </a:p>
          <a:p>
            <a:pPr algn="ctr"/>
            <a:r>
              <a:rPr lang="en-US" dirty="0">
                <a:solidFill>
                  <a:srgbClr val="7030A0"/>
                </a:solidFill>
              </a:rPr>
              <a:t>AI Guess = 26</a:t>
            </a:r>
          </a:p>
          <a:p>
            <a:pPr algn="ctr"/>
            <a:r>
              <a:rPr lang="en-US" dirty="0">
                <a:solidFill>
                  <a:srgbClr val="7030A0"/>
                </a:solidFill>
              </a:rPr>
              <a:t>AI |Err| = 8</a:t>
            </a:r>
          </a:p>
        </p:txBody>
      </p:sp>
      <p:pic>
        <p:nvPicPr>
          <p:cNvPr id="13" name="Picture 2" descr="http://www.gazettenet.com/csp/mediapool/sites/dt.common.streams.StreamServer.cls?STREAMOID=8$YaSEELCYtil7hvl9VzuM$daE2N3K4ZzOUsqbU5sYs7g5Crdt5ebC_xelTSDfARWCsjLu883Ygn4B49Lvm9bPe2QeMKQdVeZmXF$9l$4uCZ8QDXhaHEp3rvzXRJFdy0KqPHLoMevcTLo3h8xh70Y6N_U_CryOsw6FTOdKL_jpQ-&amp;CONTENTTYPE=image/jpeg">
            <a:extLst>
              <a:ext uri="{FF2B5EF4-FFF2-40B4-BE49-F238E27FC236}">
                <a16:creationId xmlns:a16="http://schemas.microsoft.com/office/drawing/2014/main" id="{468771FA-9818-E298-1F18-00FE141355B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48714" y="8642"/>
            <a:ext cx="1906524" cy="2743200"/>
          </a:xfrm>
          <a:prstGeom prst="rect">
            <a:avLst/>
          </a:prstGeom>
          <a:noFill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4" name="Picture 2" descr="https://scontent-b-ord.xx.fbcdn.net/hphotos-xap1/t1.0-9/1795619_10152306099923977_7262188604397784485_n.jpg">
            <a:extLst>
              <a:ext uri="{FF2B5EF4-FFF2-40B4-BE49-F238E27FC236}">
                <a16:creationId xmlns:a16="http://schemas.microsoft.com/office/drawing/2014/main" id="{601260C5-CF4A-1548-B52F-1994B86DA221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5092" r="28404"/>
          <a:stretch/>
        </p:blipFill>
        <p:spPr bwMode="auto">
          <a:xfrm>
            <a:off x="3337700" y="8642"/>
            <a:ext cx="2325063" cy="2743200"/>
          </a:xfrm>
          <a:prstGeom prst="rect">
            <a:avLst/>
          </a:prstGeom>
          <a:noFill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6E5804B3-FD33-4661-E0A4-BDD57EDC5433}"/>
              </a:ext>
            </a:extLst>
          </p:cNvPr>
          <p:cNvSpPr txBox="1"/>
          <p:nvPr/>
        </p:nvSpPr>
        <p:spPr>
          <a:xfrm>
            <a:off x="1602254" y="2763433"/>
            <a:ext cx="903497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dirty="0"/>
              <a:t>#6 Age </a:t>
            </a:r>
            <a:r>
              <a:rPr lang="en-US" sz="2000" b="1" dirty="0"/>
              <a:t>74</a:t>
            </a:r>
            <a:r>
              <a:rPr lang="en-US" sz="2000" dirty="0"/>
              <a:t>                 #7 Age </a:t>
            </a:r>
            <a:r>
              <a:rPr lang="en-US" sz="2000" b="1" dirty="0"/>
              <a:t>44</a:t>
            </a:r>
            <a:r>
              <a:rPr lang="en-US" sz="2000" dirty="0"/>
              <a:t>                #8 Age </a:t>
            </a:r>
            <a:r>
              <a:rPr lang="en-US" sz="2000" b="1" dirty="0"/>
              <a:t>83</a:t>
            </a:r>
            <a:r>
              <a:rPr lang="en-US" sz="2000" dirty="0"/>
              <a:t>                #9 Age </a:t>
            </a:r>
            <a:r>
              <a:rPr lang="en-US" sz="2000" b="1" dirty="0"/>
              <a:t>24</a:t>
            </a:r>
            <a:r>
              <a:rPr lang="en-US" sz="2000" dirty="0"/>
              <a:t>              #10 Age </a:t>
            </a:r>
            <a:r>
              <a:rPr lang="en-US" sz="2000" b="1" dirty="0"/>
              <a:t>34</a:t>
            </a:r>
          </a:p>
        </p:txBody>
      </p:sp>
      <p:pic>
        <p:nvPicPr>
          <p:cNvPr id="16" name="Picture 2" descr="http://static2.stuff.co.nz/1334194607/613/6731613.jpg">
            <a:extLst>
              <a:ext uri="{FF2B5EF4-FFF2-40B4-BE49-F238E27FC236}">
                <a16:creationId xmlns:a16="http://schemas.microsoft.com/office/drawing/2014/main" id="{3DBECD20-47AD-63F5-70BA-52E941C136E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911545" y="8642"/>
            <a:ext cx="2280720" cy="2743200"/>
          </a:xfrm>
          <a:prstGeom prst="rect">
            <a:avLst/>
          </a:prstGeom>
          <a:noFill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7" name="Picture 4" descr="http://www.arteyvidachicago.com/wp-content/uploads/2013/09/Margo_Glantz.jpg">
            <a:extLst>
              <a:ext uri="{FF2B5EF4-FFF2-40B4-BE49-F238E27FC236}">
                <a16:creationId xmlns:a16="http://schemas.microsoft.com/office/drawing/2014/main" id="{1DA5EBF8-0893-E319-F3DF-1BE461EABC0D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6584" r="6318"/>
          <a:stretch/>
        </p:blipFill>
        <p:spPr bwMode="auto">
          <a:xfrm>
            <a:off x="5208368" y="8642"/>
            <a:ext cx="1937957" cy="2743200"/>
          </a:xfrm>
          <a:prstGeom prst="rect">
            <a:avLst/>
          </a:prstGeom>
          <a:noFill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8" name="Picture 2" descr="http://www4.pictures.zimbio.com/gi/Bianca+Lawson+Riddick+Premieres+LA+Part+5+3K0OeeNcDdrl.jpg">
            <a:extLst>
              <a:ext uri="{FF2B5EF4-FFF2-40B4-BE49-F238E27FC236}">
                <a16:creationId xmlns:a16="http://schemas.microsoft.com/office/drawing/2014/main" id="{CFE6D5E5-3418-560A-799D-5C1AD100CDFC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023" r="7539"/>
          <a:stretch/>
        </p:blipFill>
        <p:spPr bwMode="auto">
          <a:xfrm>
            <a:off x="9087179" y="20233"/>
            <a:ext cx="1779374" cy="2743200"/>
          </a:xfrm>
          <a:prstGeom prst="rect">
            <a:avLst/>
          </a:prstGeom>
          <a:noFill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695720701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58946599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158</TotalTime>
  <Words>1300</Words>
  <Application>Microsoft Office PowerPoint</Application>
  <PresentationFormat>Widescreen</PresentationFormat>
  <Paragraphs>430</Paragraphs>
  <Slides>22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29" baseType="lpstr">
      <vt:lpstr>Arial</vt:lpstr>
      <vt:lpstr>Calibri</vt:lpstr>
      <vt:lpstr>Calibri Light</vt:lpstr>
      <vt:lpstr>Comic Sans MS</vt:lpstr>
      <vt:lpstr>Consolas</vt:lpstr>
      <vt:lpstr>Constantia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Thomas</dc:creator>
  <cp:lastModifiedBy>Thomas Love</cp:lastModifiedBy>
  <cp:revision>11</cp:revision>
  <dcterms:created xsi:type="dcterms:W3CDTF">2017-08-29T01:44:59Z</dcterms:created>
  <dcterms:modified xsi:type="dcterms:W3CDTF">2025-09-03T15:52:51Z</dcterms:modified>
</cp:coreProperties>
</file>